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59" r:id="rId4"/>
    <p:sldId id="260" r:id="rId5"/>
    <p:sldId id="261" r:id="rId6"/>
    <p:sldId id="262" r:id="rId7"/>
    <p:sldId id="265" r:id="rId8"/>
    <p:sldId id="263" r:id="rId9"/>
    <p:sldId id="264"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A679BE-54FE-74CA-992D-ECC7EF3741AE}" v="178" dt="2026-02-02T19:49:29.308"/>
    <p1510:client id="{B7B7F5F9-52CC-7108-E6BD-92A9B994E0DA}" v="974" dt="2026-02-03T18:40:19.73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F22E05-7D88-4638-A84E-DAA0AFFA68DD}" type="datetimeFigureOut">
              <a:t>2/9/2026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3A213-A343-461A-B069-EB4D4D1C1278}" type="slidenum">
              <a:t>‹#›</a:t>
            </a:fld>
            <a:endParaRPr lang="fr-FR"/>
          </a:p>
        </p:txBody>
      </p:sp>
    </p:spTree>
    <p:extLst>
      <p:ext uri="{BB962C8B-B14F-4D97-AF65-F5344CB8AC3E}">
        <p14:creationId xmlns:p14="http://schemas.microsoft.com/office/powerpoint/2010/main" val="3560039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Font typeface="Arial,Sans-Serif"/>
              <a:buChar char="•"/>
            </a:pPr>
            <a:r>
              <a:rPr lang="en-US"/>
              <a:t>Le dataset est </a:t>
            </a:r>
            <a:r>
              <a:rPr lang="en-US" err="1"/>
              <a:t>composé</a:t>
            </a:r>
            <a:r>
              <a:rPr lang="en-US"/>
              <a:t> de 556 </a:t>
            </a:r>
            <a:r>
              <a:rPr lang="en-US" err="1"/>
              <a:t>salariés</a:t>
            </a:r>
            <a:r>
              <a:rPr lang="en-US"/>
              <a:t> et 12 variables, </a:t>
            </a:r>
            <a:r>
              <a:rPr lang="en-US" err="1"/>
              <a:t>mêlant</a:t>
            </a:r>
            <a:r>
              <a:rPr lang="en-US"/>
              <a:t> variables </a:t>
            </a:r>
            <a:r>
              <a:rPr lang="en-US" err="1"/>
              <a:t>qualitatives</a:t>
            </a:r>
            <a:r>
              <a:rPr lang="en-US"/>
              <a:t> (</a:t>
            </a:r>
            <a:r>
              <a:rPr lang="en-US" err="1"/>
              <a:t>Contrat</a:t>
            </a:r>
            <a:r>
              <a:rPr lang="en-US"/>
              <a:t>, Genre, </a:t>
            </a:r>
            <a:r>
              <a:rPr lang="en-US" err="1"/>
              <a:t>Statut</a:t>
            </a:r>
            <a:r>
              <a:rPr lang="en-US"/>
              <a:t> </a:t>
            </a:r>
            <a:r>
              <a:rPr lang="en-US" err="1"/>
              <a:t>managérial</a:t>
            </a:r>
            <a:r>
              <a:rPr lang="en-US"/>
              <a:t>) et </a:t>
            </a:r>
            <a:r>
              <a:rPr lang="en-US" err="1"/>
              <a:t>quantitatives</a:t>
            </a:r>
            <a:r>
              <a:rPr lang="en-US"/>
              <a:t> (</a:t>
            </a:r>
            <a:r>
              <a:rPr lang="en-US" err="1"/>
              <a:t>Salaire</a:t>
            </a:r>
            <a:r>
              <a:rPr lang="en-US"/>
              <a:t>, </a:t>
            </a:r>
            <a:r>
              <a:rPr lang="en-US" err="1"/>
              <a:t>Âge</a:t>
            </a:r>
            <a:r>
              <a:rPr lang="en-US"/>
              <a:t>, </a:t>
            </a:r>
            <a:r>
              <a:rPr lang="en-US" err="1"/>
              <a:t>Ancienneté</a:t>
            </a:r>
            <a:r>
              <a:rPr lang="en-US"/>
              <a:t>, etc.).</a:t>
            </a:r>
            <a:endParaRPr lang="fr-FR"/>
          </a:p>
          <a:p>
            <a:pPr marL="285750" indent="-285750">
              <a:buFont typeface="Arial,Sans-Serif"/>
              <a:buChar char="•"/>
            </a:pPr>
            <a:r>
              <a:rPr lang="en-US"/>
              <a:t>La </a:t>
            </a:r>
            <a:r>
              <a:rPr lang="en-US" err="1"/>
              <a:t>présence</a:t>
            </a:r>
            <a:r>
              <a:rPr lang="en-US"/>
              <a:t> de 4 </a:t>
            </a:r>
            <a:r>
              <a:rPr lang="en-US" err="1"/>
              <a:t>salaires</a:t>
            </a:r>
            <a:r>
              <a:rPr lang="en-US"/>
              <a:t> </a:t>
            </a:r>
            <a:r>
              <a:rPr lang="en-US" err="1"/>
              <a:t>manquants</a:t>
            </a:r>
            <a:r>
              <a:rPr lang="en-US"/>
              <a:t> est marginale et </a:t>
            </a:r>
            <a:r>
              <a:rPr lang="en-US" err="1"/>
              <a:t>n’affecte</a:t>
            </a:r>
            <a:r>
              <a:rPr lang="en-US"/>
              <a:t> pas la </a:t>
            </a:r>
            <a:r>
              <a:rPr lang="en-US" err="1"/>
              <a:t>robustesse</a:t>
            </a:r>
            <a:r>
              <a:rPr lang="en-US"/>
              <a:t> </a:t>
            </a:r>
            <a:r>
              <a:rPr lang="en-US" err="1"/>
              <a:t>globale</a:t>
            </a:r>
            <a:r>
              <a:rPr lang="en-US"/>
              <a:t> des analyses.</a:t>
            </a:r>
            <a:endParaRPr lang="fr-FR"/>
          </a:p>
          <a:p>
            <a:pPr marL="285750" indent="-285750">
              <a:buFont typeface="Arial,Sans-Serif"/>
              <a:buChar char="•"/>
            </a:pPr>
            <a:r>
              <a:rPr lang="en-US"/>
              <a:t>La structure </a:t>
            </a:r>
            <a:r>
              <a:rPr lang="en-US" err="1"/>
              <a:t>permet</a:t>
            </a:r>
            <a:r>
              <a:rPr lang="en-US"/>
              <a:t> </a:t>
            </a:r>
            <a:r>
              <a:rPr lang="en-US" err="1"/>
              <a:t>une</a:t>
            </a:r>
            <a:r>
              <a:rPr lang="en-US"/>
              <a:t> </a:t>
            </a:r>
            <a:r>
              <a:rPr lang="en-US" err="1"/>
              <a:t>analyse</a:t>
            </a:r>
            <a:r>
              <a:rPr lang="en-US"/>
              <a:t> </a:t>
            </a:r>
            <a:r>
              <a:rPr lang="en-US" err="1"/>
              <a:t>démographique</a:t>
            </a:r>
            <a:r>
              <a:rPr lang="en-US"/>
              <a:t>, </a:t>
            </a:r>
            <a:r>
              <a:rPr lang="en-US" err="1"/>
              <a:t>hiérarchique</a:t>
            </a:r>
            <a:r>
              <a:rPr lang="en-US"/>
              <a:t> et </a:t>
            </a:r>
            <a:r>
              <a:rPr lang="en-US" err="1"/>
              <a:t>salariale</a:t>
            </a:r>
            <a:r>
              <a:rPr lang="en-US"/>
              <a:t> </a:t>
            </a:r>
            <a:r>
              <a:rPr lang="en-US" err="1"/>
              <a:t>pertinente</a:t>
            </a:r>
            <a:r>
              <a:rPr lang="en-US"/>
              <a:t>.</a:t>
            </a:r>
            <a:endParaRPr lang="fr-FR"/>
          </a:p>
          <a:p>
            <a:pPr marL="285750" indent="-285750">
              <a:buFont typeface="Arial,Sans-Serif"/>
              <a:buChar char="•"/>
            </a:pPr>
            <a:r>
              <a:rPr lang="en-US" err="1"/>
              <a:t>Certaines</a:t>
            </a:r>
            <a:r>
              <a:rPr lang="en-US"/>
              <a:t> variables </a:t>
            </a:r>
            <a:r>
              <a:rPr lang="en-US" err="1"/>
              <a:t>numériques</a:t>
            </a:r>
            <a:r>
              <a:rPr lang="en-US"/>
              <a:t> </a:t>
            </a:r>
            <a:r>
              <a:rPr lang="en-US" err="1"/>
              <a:t>discrètes</a:t>
            </a:r>
            <a:r>
              <a:rPr lang="en-US"/>
              <a:t> (</a:t>
            </a:r>
            <a:r>
              <a:rPr lang="en-US" err="1"/>
              <a:t>niveau</a:t>
            </a:r>
            <a:r>
              <a:rPr lang="en-US"/>
              <a:t> </a:t>
            </a:r>
            <a:r>
              <a:rPr lang="en-US" err="1"/>
              <a:t>hiérarchique</a:t>
            </a:r>
            <a:r>
              <a:rPr lang="en-US"/>
              <a:t>, </a:t>
            </a:r>
            <a:r>
              <a:rPr lang="en-US" err="1"/>
              <a:t>identifiant</a:t>
            </a:r>
            <a:r>
              <a:rPr lang="en-US"/>
              <a:t>) </a:t>
            </a:r>
            <a:r>
              <a:rPr lang="en-US" err="1"/>
              <a:t>peuvent</a:t>
            </a:r>
            <a:r>
              <a:rPr lang="en-US"/>
              <a:t> </a:t>
            </a:r>
            <a:r>
              <a:rPr lang="en-US" err="1"/>
              <a:t>être</a:t>
            </a:r>
            <a:r>
              <a:rPr lang="en-US"/>
              <a:t> </a:t>
            </a:r>
            <a:r>
              <a:rPr lang="en-US" err="1"/>
              <a:t>traitées</a:t>
            </a:r>
            <a:r>
              <a:rPr lang="en-US"/>
              <a:t> </a:t>
            </a:r>
            <a:r>
              <a:rPr lang="en-US" err="1"/>
              <a:t>comme</a:t>
            </a:r>
            <a:r>
              <a:rPr lang="en-US"/>
              <a:t> </a:t>
            </a:r>
            <a:r>
              <a:rPr lang="en-US" err="1"/>
              <a:t>qualitatives</a:t>
            </a:r>
            <a:r>
              <a:rPr lang="en-US"/>
              <a:t> </a:t>
            </a:r>
            <a:r>
              <a:rPr lang="en-US" err="1"/>
              <a:t>selon</a:t>
            </a:r>
            <a:r>
              <a:rPr lang="en-US"/>
              <a:t> le </a:t>
            </a:r>
            <a:r>
              <a:rPr lang="en-US" err="1"/>
              <a:t>contexte</a:t>
            </a:r>
            <a:r>
              <a:rPr lang="en-US"/>
              <a:t> </a:t>
            </a:r>
            <a:r>
              <a:rPr lang="en-US" err="1"/>
              <a:t>analytique</a:t>
            </a:r>
            <a:r>
              <a:rPr lang="en-US"/>
              <a:t>.</a:t>
            </a:r>
            <a:endParaRPr lang="fr-FR"/>
          </a:p>
          <a:p>
            <a:endParaRPr lang="en-US"/>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2</a:t>
            </a:fld>
            <a:endParaRPr lang="fr-FR"/>
          </a:p>
        </p:txBody>
      </p:sp>
    </p:spTree>
    <p:extLst>
      <p:ext uri="{BB962C8B-B14F-4D97-AF65-F5344CB8AC3E}">
        <p14:creationId xmlns:p14="http://schemas.microsoft.com/office/powerpoint/2010/main" val="1992309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buFont typeface="Arial"/>
              <a:buChar char="•"/>
            </a:pPr>
            <a:r>
              <a:rPr lang="en-US" err="1"/>
              <a:t>L’entreprise</a:t>
            </a:r>
            <a:r>
              <a:rPr lang="en-US"/>
              <a:t> est très </a:t>
            </a:r>
            <a:r>
              <a:rPr lang="en-US" err="1"/>
              <a:t>largement</a:t>
            </a:r>
            <a:r>
              <a:rPr lang="en-US"/>
              <a:t> </a:t>
            </a:r>
            <a:r>
              <a:rPr lang="en-US" err="1"/>
              <a:t>composée</a:t>
            </a:r>
            <a:r>
              <a:rPr lang="en-US"/>
              <a:t> de CDI (96,7 %).</a:t>
            </a:r>
            <a:endParaRPr lang="en-US">
              <a:ea typeface="Calibri"/>
              <a:cs typeface="Calibri"/>
            </a:endParaRPr>
          </a:p>
          <a:p>
            <a:pPr>
              <a:buFont typeface="Arial"/>
              <a:buChar char="•"/>
            </a:pPr>
            <a:r>
              <a:rPr lang="en-US"/>
              <a:t>Les CDD </a:t>
            </a:r>
            <a:r>
              <a:rPr lang="en-US" err="1"/>
              <a:t>sont</a:t>
            </a:r>
            <a:r>
              <a:rPr lang="en-US"/>
              <a:t> </a:t>
            </a:r>
            <a:r>
              <a:rPr lang="en-US" err="1"/>
              <a:t>marginaux</a:t>
            </a:r>
            <a:r>
              <a:rPr lang="en-US"/>
              <a:t>, </a:t>
            </a:r>
            <a:r>
              <a:rPr lang="en-US" err="1"/>
              <a:t>ce</a:t>
            </a:r>
            <a:r>
              <a:rPr lang="en-US"/>
              <a:t> qui </a:t>
            </a:r>
            <a:r>
              <a:rPr lang="en-US" err="1"/>
              <a:t>suggère</a:t>
            </a:r>
            <a:r>
              <a:rPr lang="en-US"/>
              <a:t> </a:t>
            </a:r>
            <a:r>
              <a:rPr lang="en-US" err="1"/>
              <a:t>une</a:t>
            </a:r>
            <a:r>
              <a:rPr lang="en-US"/>
              <a:t> politique RH </a:t>
            </a:r>
            <a:r>
              <a:rPr lang="en-US" err="1"/>
              <a:t>orientée</a:t>
            </a:r>
            <a:r>
              <a:rPr lang="en-US"/>
              <a:t> </a:t>
            </a:r>
            <a:r>
              <a:rPr lang="en-US" err="1"/>
              <a:t>stabilité</a:t>
            </a:r>
            <a:r>
              <a:rPr lang="en-US"/>
              <a:t> de </a:t>
            </a:r>
            <a:r>
              <a:rPr lang="en-US" err="1"/>
              <a:t>l’emploi</a:t>
            </a:r>
            <a:r>
              <a:rPr lang="en-US"/>
              <a:t>.</a:t>
            </a:r>
            <a:endParaRPr lang="en-US">
              <a:ea typeface="Calibri"/>
              <a:cs typeface="Calibri"/>
            </a:endParaRPr>
          </a:p>
          <a:p>
            <a:pPr>
              <a:buFont typeface="Arial"/>
              <a:buChar char="•"/>
            </a:pPr>
            <a:r>
              <a:rPr lang="en-US"/>
              <a:t>La variable </a:t>
            </a:r>
            <a:r>
              <a:rPr lang="en-US" err="1"/>
              <a:t>Contrat</a:t>
            </a:r>
            <a:r>
              <a:rPr lang="en-US"/>
              <a:t> aura </a:t>
            </a:r>
            <a:r>
              <a:rPr lang="en-US" err="1"/>
              <a:t>donc</a:t>
            </a:r>
            <a:r>
              <a:rPr lang="en-US"/>
              <a:t> peu </a:t>
            </a:r>
            <a:r>
              <a:rPr lang="en-US" err="1"/>
              <a:t>d’impact</a:t>
            </a:r>
            <a:r>
              <a:rPr lang="en-US"/>
              <a:t> discriminant dans les analyses </a:t>
            </a:r>
            <a:r>
              <a:rPr lang="en-US" err="1"/>
              <a:t>salariales</a:t>
            </a:r>
            <a:r>
              <a:rPr lang="en-US"/>
              <a:t>.</a:t>
            </a:r>
            <a:endParaRPr lang="en-US">
              <a:ea typeface="Calibri"/>
              <a:cs typeface="Calibri"/>
            </a:endParaRPr>
          </a:p>
          <a:p>
            <a:endParaRPr lang="en-US">
              <a:ea typeface="Calibri"/>
              <a:cs typeface="Calibri"/>
            </a:endParaRPr>
          </a:p>
          <a:p>
            <a:pPr marL="171450" indent="-171450">
              <a:buFont typeface="Arial"/>
              <a:buChar char="•"/>
            </a:pPr>
            <a:r>
              <a:rPr lang="en-US"/>
              <a:t>La distribution des </a:t>
            </a:r>
            <a:r>
              <a:rPr lang="en-US" err="1"/>
              <a:t>salaires</a:t>
            </a:r>
            <a:r>
              <a:rPr lang="en-US"/>
              <a:t> est </a:t>
            </a:r>
            <a:r>
              <a:rPr lang="en-US" err="1"/>
              <a:t>fortement</a:t>
            </a:r>
            <a:r>
              <a:rPr lang="en-US"/>
              <a:t> </a:t>
            </a:r>
            <a:r>
              <a:rPr lang="en-US" err="1"/>
              <a:t>asymétrique</a:t>
            </a:r>
            <a:r>
              <a:rPr lang="en-US"/>
              <a:t> à droite.</a:t>
            </a:r>
            <a:endParaRPr lang="en-US">
              <a:ea typeface="Calibri"/>
              <a:cs typeface="Calibri"/>
            </a:endParaRPr>
          </a:p>
          <a:p>
            <a:pPr marL="171450" indent="-171450">
              <a:buFont typeface="Arial"/>
              <a:buChar char="•"/>
            </a:pPr>
            <a:r>
              <a:rPr lang="en-US"/>
              <a:t>La </a:t>
            </a:r>
            <a:r>
              <a:rPr lang="en-US" err="1"/>
              <a:t>moyenne</a:t>
            </a:r>
            <a:r>
              <a:rPr lang="en-US"/>
              <a:t> est supérieure à la </a:t>
            </a:r>
            <a:r>
              <a:rPr lang="en-US" err="1"/>
              <a:t>médiane</a:t>
            </a:r>
            <a:r>
              <a:rPr lang="en-US"/>
              <a:t>, </a:t>
            </a:r>
            <a:r>
              <a:rPr lang="en-US" err="1"/>
              <a:t>indiquant</a:t>
            </a:r>
            <a:r>
              <a:rPr lang="en-US"/>
              <a:t> la </a:t>
            </a:r>
            <a:r>
              <a:rPr lang="en-US" err="1"/>
              <a:t>présence</a:t>
            </a:r>
            <a:r>
              <a:rPr lang="en-US"/>
              <a:t> de </a:t>
            </a:r>
            <a:r>
              <a:rPr lang="en-US" err="1"/>
              <a:t>salaires</a:t>
            </a:r>
            <a:r>
              <a:rPr lang="en-US"/>
              <a:t> très </a:t>
            </a:r>
            <a:r>
              <a:rPr lang="en-US" err="1"/>
              <a:t>élevés</a:t>
            </a:r>
            <a:r>
              <a:rPr lang="en-US"/>
              <a:t> qui </a:t>
            </a:r>
            <a:r>
              <a:rPr lang="en-US" err="1"/>
              <a:t>tirent</a:t>
            </a:r>
            <a:r>
              <a:rPr lang="en-US"/>
              <a:t> la </a:t>
            </a:r>
            <a:r>
              <a:rPr lang="en-US" err="1"/>
              <a:t>moyenne</a:t>
            </a:r>
            <a:r>
              <a:rPr lang="en-US"/>
              <a:t> vers le haut.</a:t>
            </a:r>
            <a:endParaRPr lang="en-US">
              <a:ea typeface="Calibri"/>
              <a:cs typeface="Calibri"/>
            </a:endParaRPr>
          </a:p>
          <a:p>
            <a:pPr marL="171450" indent="-171450">
              <a:buFont typeface="Arial"/>
              <a:buChar char="•"/>
            </a:pPr>
            <a:r>
              <a:rPr lang="en-US"/>
              <a:t>Les </a:t>
            </a:r>
            <a:r>
              <a:rPr lang="en-US" err="1"/>
              <a:t>salaires</a:t>
            </a:r>
            <a:r>
              <a:rPr lang="en-US"/>
              <a:t> </a:t>
            </a:r>
            <a:r>
              <a:rPr lang="en-US" err="1"/>
              <a:t>sont</a:t>
            </a:r>
            <a:r>
              <a:rPr lang="en-US"/>
              <a:t> très </a:t>
            </a:r>
            <a:r>
              <a:rPr lang="en-US" err="1"/>
              <a:t>dispersés</a:t>
            </a:r>
            <a:r>
              <a:rPr lang="en-US"/>
              <a:t> (</a:t>
            </a:r>
            <a:r>
              <a:rPr lang="en-US" err="1"/>
              <a:t>écart</a:t>
            </a:r>
            <a:r>
              <a:rPr lang="en-US"/>
              <a:t>-type </a:t>
            </a:r>
            <a:r>
              <a:rPr lang="en-US" err="1"/>
              <a:t>élevé</a:t>
            </a:r>
            <a:r>
              <a:rPr lang="en-US"/>
              <a:t>), </a:t>
            </a:r>
            <a:r>
              <a:rPr lang="en-US" err="1"/>
              <a:t>ce</a:t>
            </a:r>
            <a:r>
              <a:rPr lang="en-US"/>
              <a:t> qui </a:t>
            </a:r>
            <a:r>
              <a:rPr lang="en-US" err="1"/>
              <a:t>limite</a:t>
            </a:r>
            <a:r>
              <a:rPr lang="en-US"/>
              <a:t> la pertinence de la </a:t>
            </a:r>
            <a:r>
              <a:rPr lang="en-US" err="1"/>
              <a:t>moyenne</a:t>
            </a:r>
            <a:r>
              <a:rPr lang="en-US"/>
              <a:t> </a:t>
            </a:r>
            <a:r>
              <a:rPr lang="en-US" err="1"/>
              <a:t>comme</a:t>
            </a:r>
            <a:r>
              <a:rPr lang="en-US"/>
              <a:t> </a:t>
            </a:r>
            <a:r>
              <a:rPr lang="en-US" err="1"/>
              <a:t>indicateur</a:t>
            </a:r>
            <a:r>
              <a:rPr lang="en-US"/>
              <a:t> central.</a:t>
            </a:r>
            <a:endParaRPr lang="en-US">
              <a:ea typeface="Calibri"/>
              <a:cs typeface="Calibri"/>
            </a:endParaRPr>
          </a:p>
          <a:p>
            <a:pPr marL="171450" indent="-171450">
              <a:buFont typeface="Arial"/>
              <a:buChar char="•"/>
            </a:pPr>
            <a:r>
              <a:rPr lang="en-US"/>
              <a:t>Le boxplot </a:t>
            </a:r>
            <a:r>
              <a:rPr lang="en-US" err="1"/>
              <a:t>confirme</a:t>
            </a:r>
            <a:r>
              <a:rPr lang="en-US"/>
              <a:t> la </a:t>
            </a:r>
            <a:r>
              <a:rPr lang="en-US" err="1"/>
              <a:t>présence</a:t>
            </a:r>
            <a:r>
              <a:rPr lang="en-US"/>
              <a:t> </a:t>
            </a:r>
            <a:r>
              <a:rPr lang="en-US" err="1"/>
              <a:t>d’outliers</a:t>
            </a:r>
            <a:r>
              <a:rPr lang="en-US"/>
              <a:t> et </a:t>
            </a:r>
            <a:r>
              <a:rPr lang="en-US" err="1"/>
              <a:t>une</a:t>
            </a:r>
            <a:r>
              <a:rPr lang="en-US"/>
              <a:t> forte </a:t>
            </a:r>
            <a:r>
              <a:rPr lang="en-US" err="1"/>
              <a:t>hétérogénéité</a:t>
            </a:r>
            <a:r>
              <a:rPr lang="en-US"/>
              <a:t> </a:t>
            </a:r>
            <a:r>
              <a:rPr lang="en-US" err="1"/>
              <a:t>salariale</a:t>
            </a:r>
            <a:r>
              <a:rPr lang="en-US"/>
              <a:t>.</a:t>
            </a:r>
            <a:endParaRPr lang="en-US">
              <a:ea typeface="Calibri"/>
              <a:cs typeface="Calibri"/>
            </a:endParaRP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3</a:t>
            </a:fld>
            <a:endParaRPr lang="fr-FR"/>
          </a:p>
        </p:txBody>
      </p:sp>
    </p:spTree>
    <p:extLst>
      <p:ext uri="{BB962C8B-B14F-4D97-AF65-F5344CB8AC3E}">
        <p14:creationId xmlns:p14="http://schemas.microsoft.com/office/powerpoint/2010/main" val="1161887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1" err="1"/>
              <a:t>Analyse</a:t>
            </a:r>
            <a:r>
              <a:rPr lang="en-US" b="1"/>
              <a:t> </a:t>
            </a:r>
            <a:r>
              <a:rPr lang="en-US" b="1" err="1"/>
              <a:t>bivariée</a:t>
            </a:r>
            <a:r>
              <a:rPr lang="en-US" b="1"/>
              <a:t> qualitative : Genre × </a:t>
            </a:r>
            <a:r>
              <a:rPr lang="en-US" b="1" err="1"/>
              <a:t>Niveau</a:t>
            </a:r>
            <a:r>
              <a:rPr lang="en-US" b="1"/>
              <a:t> </a:t>
            </a:r>
            <a:r>
              <a:rPr lang="en-US" b="1" err="1"/>
              <a:t>hiérarchique</a:t>
            </a:r>
            <a:endParaRPr lang="fr-FR" b="1" err="1"/>
          </a:p>
          <a:p>
            <a:pPr marL="285750" indent="-285750">
              <a:buFont typeface="Arial"/>
              <a:buChar char="•"/>
            </a:pPr>
            <a:r>
              <a:rPr lang="en-US"/>
              <a:t>Les femmes </a:t>
            </a:r>
            <a:r>
              <a:rPr lang="en-US" err="1"/>
              <a:t>sont</a:t>
            </a:r>
            <a:r>
              <a:rPr lang="en-US"/>
              <a:t> </a:t>
            </a:r>
            <a:r>
              <a:rPr lang="en-US" err="1"/>
              <a:t>surreprésentées</a:t>
            </a:r>
            <a:r>
              <a:rPr lang="en-US"/>
              <a:t> dans les </a:t>
            </a:r>
            <a:r>
              <a:rPr lang="en-US" err="1"/>
              <a:t>niveaux</a:t>
            </a:r>
            <a:r>
              <a:rPr lang="en-US"/>
              <a:t> </a:t>
            </a:r>
            <a:r>
              <a:rPr lang="en-US" err="1"/>
              <a:t>hiérarchiques</a:t>
            </a:r>
            <a:r>
              <a:rPr lang="en-US"/>
              <a:t> bas, </a:t>
            </a:r>
            <a:r>
              <a:rPr lang="en-US" err="1"/>
              <a:t>notamment</a:t>
            </a:r>
            <a:r>
              <a:rPr lang="en-US"/>
              <a:t> le </a:t>
            </a:r>
            <a:r>
              <a:rPr lang="en-US" err="1"/>
              <a:t>niveau</a:t>
            </a:r>
            <a:r>
              <a:rPr lang="en-US"/>
              <a:t> 2.</a:t>
            </a:r>
            <a:endParaRPr lang="fr-FR">
              <a:ea typeface="Calibri"/>
              <a:cs typeface="Calibri"/>
            </a:endParaRPr>
          </a:p>
          <a:p>
            <a:pPr marL="285750" indent="-285750">
              <a:buFont typeface="Arial"/>
              <a:buChar char="•"/>
            </a:pPr>
            <a:r>
              <a:rPr lang="en-US"/>
              <a:t>Les hommes </a:t>
            </a:r>
            <a:r>
              <a:rPr lang="en-US" err="1"/>
              <a:t>sont</a:t>
            </a:r>
            <a:r>
              <a:rPr lang="en-US"/>
              <a:t> </a:t>
            </a:r>
            <a:r>
              <a:rPr lang="en-US" err="1"/>
              <a:t>majoritaires</a:t>
            </a:r>
            <a:r>
              <a:rPr lang="en-US"/>
              <a:t> dans les </a:t>
            </a:r>
            <a:r>
              <a:rPr lang="en-US" err="1"/>
              <a:t>niveaux</a:t>
            </a:r>
            <a:r>
              <a:rPr lang="en-US"/>
              <a:t> </a:t>
            </a:r>
            <a:r>
              <a:rPr lang="en-US" err="1"/>
              <a:t>intermédiaires</a:t>
            </a:r>
            <a:r>
              <a:rPr lang="en-US"/>
              <a:t> et </a:t>
            </a:r>
            <a:r>
              <a:rPr lang="en-US" err="1"/>
              <a:t>supérieurs</a:t>
            </a:r>
            <a:r>
              <a:rPr lang="en-US"/>
              <a:t>.</a:t>
            </a:r>
            <a:endParaRPr lang="fr-FR">
              <a:ea typeface="Calibri"/>
              <a:cs typeface="Calibri"/>
            </a:endParaRPr>
          </a:p>
          <a:p>
            <a:pPr marL="285750" indent="-285750">
              <a:buFont typeface="Arial"/>
              <a:buChar char="•"/>
            </a:pPr>
            <a:r>
              <a:rPr lang="en-US"/>
              <a:t>Le </a:t>
            </a:r>
            <a:r>
              <a:rPr lang="en-US" err="1"/>
              <a:t>sommet</a:t>
            </a:r>
            <a:r>
              <a:rPr lang="en-US"/>
              <a:t> de la </a:t>
            </a:r>
            <a:r>
              <a:rPr lang="en-US" err="1"/>
              <a:t>hiérarchie</a:t>
            </a:r>
            <a:r>
              <a:rPr lang="en-US"/>
              <a:t> est quasi </a:t>
            </a:r>
            <a:r>
              <a:rPr lang="en-US" err="1"/>
              <a:t>paritaire</a:t>
            </a:r>
            <a:r>
              <a:rPr lang="en-US"/>
              <a:t>, </a:t>
            </a:r>
            <a:r>
              <a:rPr lang="en-US" err="1"/>
              <a:t>mais</a:t>
            </a:r>
            <a:r>
              <a:rPr lang="en-US"/>
              <a:t> </a:t>
            </a:r>
            <a:r>
              <a:rPr lang="en-US" err="1"/>
              <a:t>l’accès</a:t>
            </a:r>
            <a:r>
              <a:rPr lang="en-US"/>
              <a:t> aux </a:t>
            </a:r>
            <a:r>
              <a:rPr lang="en-US" err="1"/>
              <a:t>niveaux</a:t>
            </a:r>
            <a:r>
              <a:rPr lang="en-US"/>
              <a:t> </a:t>
            </a:r>
            <a:r>
              <a:rPr lang="en-US" err="1"/>
              <a:t>intermédiaires</a:t>
            </a:r>
            <a:r>
              <a:rPr lang="en-US"/>
              <a:t> </a:t>
            </a:r>
            <a:r>
              <a:rPr lang="en-US" err="1"/>
              <a:t>reste</a:t>
            </a:r>
            <a:r>
              <a:rPr lang="en-US"/>
              <a:t> </a:t>
            </a:r>
            <a:r>
              <a:rPr lang="en-US" err="1"/>
              <a:t>genré</a:t>
            </a:r>
            <a:r>
              <a:rPr lang="en-US"/>
              <a:t>.</a:t>
            </a:r>
            <a:endParaRPr lang="fr-FR">
              <a:ea typeface="Calibri"/>
              <a:cs typeface="Calibri"/>
            </a:endParaRPr>
          </a:p>
          <a:p>
            <a:pPr marL="285750" indent="-285750">
              <a:buFont typeface="Arial"/>
              <a:buChar char="•"/>
            </a:pPr>
            <a:r>
              <a:rPr lang="en-US"/>
              <a:t>Cette </a:t>
            </a:r>
            <a:r>
              <a:rPr lang="en-US" err="1"/>
              <a:t>répartition</a:t>
            </a:r>
            <a:r>
              <a:rPr lang="en-US"/>
              <a:t> </a:t>
            </a:r>
            <a:r>
              <a:rPr lang="en-US" err="1"/>
              <a:t>suggère</a:t>
            </a:r>
            <a:r>
              <a:rPr lang="en-US"/>
              <a:t> un </a:t>
            </a:r>
            <a:r>
              <a:rPr lang="en-US" err="1"/>
              <a:t>effet</a:t>
            </a:r>
            <a:r>
              <a:rPr lang="en-US"/>
              <a:t> de plafond </a:t>
            </a:r>
            <a:r>
              <a:rPr lang="en-US" err="1"/>
              <a:t>intermédiaire</a:t>
            </a:r>
            <a:r>
              <a:rPr lang="en-US"/>
              <a:t> </a:t>
            </a:r>
            <a:r>
              <a:rPr lang="en-US" err="1"/>
              <a:t>plutôt</a:t>
            </a:r>
            <a:r>
              <a:rPr lang="en-US"/>
              <a:t> </a:t>
            </a:r>
            <a:r>
              <a:rPr lang="en-US" err="1"/>
              <a:t>qu’un</a:t>
            </a:r>
            <a:r>
              <a:rPr lang="en-US"/>
              <a:t> plafond de verre strict.</a:t>
            </a:r>
          </a:p>
          <a:p>
            <a:endParaRPr lang="en-US">
              <a:ea typeface="Calibri" panose="020F0502020204030204"/>
              <a:cs typeface="+mn-lt"/>
            </a:endParaRPr>
          </a:p>
          <a:p>
            <a:r>
              <a:rPr lang="en-US" b="1" err="1"/>
              <a:t>Analyse</a:t>
            </a:r>
            <a:r>
              <a:rPr lang="en-US" b="1"/>
              <a:t> </a:t>
            </a:r>
            <a:r>
              <a:rPr lang="en-US" b="1" err="1"/>
              <a:t>bivariée</a:t>
            </a:r>
            <a:r>
              <a:rPr lang="en-US" b="1"/>
              <a:t> quantitative : </a:t>
            </a:r>
            <a:r>
              <a:rPr lang="en-US" b="1" err="1"/>
              <a:t>Âge</a:t>
            </a:r>
            <a:r>
              <a:rPr lang="en-US" b="1"/>
              <a:t> × </a:t>
            </a:r>
            <a:r>
              <a:rPr lang="en-US" b="1" err="1"/>
              <a:t>Salaire</a:t>
            </a:r>
            <a:endParaRPr lang="en-US" b="1" err="1">
              <a:ea typeface="Calibri"/>
              <a:cs typeface="Calibri"/>
            </a:endParaRPr>
          </a:p>
          <a:p>
            <a:pPr>
              <a:buFont typeface="Arial"/>
              <a:buChar char="•"/>
            </a:pPr>
            <a:r>
              <a:rPr lang="en-US"/>
              <a:t>Il </a:t>
            </a:r>
            <a:r>
              <a:rPr lang="en-US" err="1"/>
              <a:t>n’existe</a:t>
            </a:r>
            <a:r>
              <a:rPr lang="en-US"/>
              <a:t> pas de relation </a:t>
            </a:r>
            <a:r>
              <a:rPr lang="en-US" err="1"/>
              <a:t>linéaire</a:t>
            </a:r>
            <a:r>
              <a:rPr lang="en-US"/>
              <a:t> forte entre </a:t>
            </a:r>
            <a:r>
              <a:rPr lang="en-US" err="1"/>
              <a:t>l’âge</a:t>
            </a:r>
            <a:r>
              <a:rPr lang="en-US"/>
              <a:t> et le </a:t>
            </a:r>
            <a:r>
              <a:rPr lang="en-US" err="1"/>
              <a:t>salaire</a:t>
            </a:r>
            <a:r>
              <a:rPr lang="en-US"/>
              <a:t>.</a:t>
            </a:r>
            <a:endParaRPr lang="en-US">
              <a:ea typeface="Calibri"/>
              <a:cs typeface="+mn-lt"/>
            </a:endParaRPr>
          </a:p>
          <a:p>
            <a:pPr>
              <a:buFont typeface="Arial"/>
              <a:buChar char="•"/>
            </a:pPr>
            <a:r>
              <a:rPr lang="en-US"/>
              <a:t>Les </a:t>
            </a:r>
            <a:r>
              <a:rPr lang="en-US" err="1"/>
              <a:t>salaires</a:t>
            </a:r>
            <a:r>
              <a:rPr lang="en-US"/>
              <a:t> </a:t>
            </a:r>
            <a:r>
              <a:rPr lang="en-US" err="1"/>
              <a:t>élevés</a:t>
            </a:r>
            <a:r>
              <a:rPr lang="en-US"/>
              <a:t> </a:t>
            </a:r>
            <a:r>
              <a:rPr lang="en-US" err="1"/>
              <a:t>sont</a:t>
            </a:r>
            <a:r>
              <a:rPr lang="en-US"/>
              <a:t> </a:t>
            </a:r>
            <a:r>
              <a:rPr lang="en-US" err="1"/>
              <a:t>davantage</a:t>
            </a:r>
            <a:r>
              <a:rPr lang="en-US"/>
              <a:t> </a:t>
            </a:r>
            <a:r>
              <a:rPr lang="en-US" err="1"/>
              <a:t>associés</a:t>
            </a:r>
            <a:r>
              <a:rPr lang="en-US"/>
              <a:t> aux </a:t>
            </a:r>
            <a:r>
              <a:rPr lang="en-US" err="1"/>
              <a:t>âges</a:t>
            </a:r>
            <a:r>
              <a:rPr lang="en-US"/>
              <a:t> </a:t>
            </a:r>
            <a:r>
              <a:rPr lang="en-US" err="1"/>
              <a:t>élevés</a:t>
            </a:r>
            <a:r>
              <a:rPr lang="en-US"/>
              <a:t>, </a:t>
            </a:r>
            <a:r>
              <a:rPr lang="en-US" err="1"/>
              <a:t>mais</a:t>
            </a:r>
            <a:r>
              <a:rPr lang="en-US"/>
              <a:t> </a:t>
            </a:r>
            <a:r>
              <a:rPr lang="en-US" err="1"/>
              <a:t>ils</a:t>
            </a:r>
            <a:r>
              <a:rPr lang="en-US"/>
              <a:t> </a:t>
            </a:r>
            <a:r>
              <a:rPr lang="en-US" err="1"/>
              <a:t>sont</a:t>
            </a:r>
            <a:r>
              <a:rPr lang="en-US"/>
              <a:t> trop peu </a:t>
            </a:r>
            <a:r>
              <a:rPr lang="en-US" err="1"/>
              <a:t>nombreux</a:t>
            </a:r>
            <a:r>
              <a:rPr lang="en-US"/>
              <a:t> pour structurer </a:t>
            </a:r>
            <a:r>
              <a:rPr lang="en-US" err="1"/>
              <a:t>une</a:t>
            </a:r>
            <a:r>
              <a:rPr lang="en-US"/>
              <a:t> tendance </a:t>
            </a:r>
            <a:r>
              <a:rPr lang="en-US" err="1"/>
              <a:t>claire</a:t>
            </a:r>
            <a:r>
              <a:rPr lang="en-US"/>
              <a:t>.</a:t>
            </a:r>
            <a:endParaRPr lang="en-US">
              <a:ea typeface="Calibri"/>
              <a:cs typeface="Calibri"/>
            </a:endParaRPr>
          </a:p>
          <a:p>
            <a:pPr>
              <a:buFont typeface="Arial"/>
              <a:buChar char="•"/>
            </a:pPr>
            <a:r>
              <a:rPr lang="en-US"/>
              <a:t>La </a:t>
            </a:r>
            <a:r>
              <a:rPr lang="en-US" err="1"/>
              <a:t>faible</a:t>
            </a:r>
            <a:r>
              <a:rPr lang="en-US"/>
              <a:t> </a:t>
            </a:r>
            <a:r>
              <a:rPr lang="en-US" err="1"/>
              <a:t>pente</a:t>
            </a:r>
            <a:r>
              <a:rPr lang="en-US"/>
              <a:t> de la droite de </a:t>
            </a:r>
            <a:r>
              <a:rPr lang="en-US" err="1"/>
              <a:t>régression</a:t>
            </a:r>
            <a:r>
              <a:rPr lang="en-US"/>
              <a:t> </a:t>
            </a:r>
            <a:r>
              <a:rPr lang="en-US" err="1"/>
              <a:t>indique</a:t>
            </a:r>
            <a:r>
              <a:rPr lang="en-US"/>
              <a:t> </a:t>
            </a:r>
            <a:r>
              <a:rPr lang="en-US" err="1"/>
              <a:t>que</a:t>
            </a:r>
            <a:r>
              <a:rPr lang="en-US"/>
              <a:t> </a:t>
            </a:r>
            <a:r>
              <a:rPr lang="en-US" err="1"/>
              <a:t>l’âge</a:t>
            </a:r>
            <a:r>
              <a:rPr lang="en-US"/>
              <a:t> </a:t>
            </a:r>
            <a:r>
              <a:rPr lang="en-US" err="1"/>
              <a:t>explique</a:t>
            </a:r>
            <a:r>
              <a:rPr lang="en-US"/>
              <a:t> peu le </a:t>
            </a:r>
            <a:r>
              <a:rPr lang="en-US" err="1"/>
              <a:t>salaire</a:t>
            </a:r>
            <a:r>
              <a:rPr lang="en-US"/>
              <a:t>, </a:t>
            </a:r>
            <a:r>
              <a:rPr lang="en-US" err="1"/>
              <a:t>suggérant</a:t>
            </a:r>
            <a:r>
              <a:rPr lang="en-US"/>
              <a:t> </a:t>
            </a:r>
            <a:r>
              <a:rPr lang="en-US" err="1"/>
              <a:t>l’intervention</a:t>
            </a:r>
            <a:r>
              <a:rPr lang="en-US"/>
              <a:t> </a:t>
            </a:r>
            <a:r>
              <a:rPr lang="en-US" err="1"/>
              <a:t>d’une</a:t>
            </a:r>
            <a:r>
              <a:rPr lang="en-US"/>
              <a:t> variable </a:t>
            </a:r>
            <a:r>
              <a:rPr lang="en-US" err="1"/>
              <a:t>intermédiaire</a:t>
            </a:r>
            <a:r>
              <a:rPr lang="en-US"/>
              <a:t> (</a:t>
            </a:r>
            <a:r>
              <a:rPr lang="en-US" err="1"/>
              <a:t>niveau</a:t>
            </a:r>
            <a:r>
              <a:rPr lang="en-US"/>
              <a:t> </a:t>
            </a:r>
            <a:r>
              <a:rPr lang="en-US" err="1"/>
              <a:t>hiérarchique</a:t>
            </a:r>
            <a:r>
              <a:rPr lang="en-US"/>
              <a:t>).</a:t>
            </a:r>
            <a:endParaRPr lang="en-US">
              <a:ea typeface="Calibri"/>
              <a:cs typeface="Calibri"/>
            </a:endParaRPr>
          </a:p>
          <a:p>
            <a:pPr marL="285750" indent="-285750">
              <a:buFont typeface="Arial"/>
              <a:buChar char="•"/>
            </a:pPr>
            <a:br>
              <a:rPr lang="en-US">
                <a:cs typeface="+mn-lt"/>
              </a:rPr>
            </a:br>
            <a:endParaRPr lang="en-US">
              <a:ea typeface="Calibri"/>
              <a:cs typeface="Calibri"/>
            </a:endParaRP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4</a:t>
            </a:fld>
            <a:endParaRPr lang="fr-FR"/>
          </a:p>
        </p:txBody>
      </p:sp>
    </p:spTree>
    <p:extLst>
      <p:ext uri="{BB962C8B-B14F-4D97-AF65-F5344CB8AC3E}">
        <p14:creationId xmlns:p14="http://schemas.microsoft.com/office/powerpoint/2010/main" val="1379526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1" err="1"/>
              <a:t>Analyse</a:t>
            </a:r>
            <a:r>
              <a:rPr lang="en-US" b="1"/>
              <a:t> </a:t>
            </a:r>
            <a:r>
              <a:rPr lang="en-US" b="1" err="1"/>
              <a:t>bivariée</a:t>
            </a:r>
            <a:r>
              <a:rPr lang="en-US" b="1"/>
              <a:t> </a:t>
            </a:r>
            <a:r>
              <a:rPr lang="en-US"/>
              <a:t>: Genre × </a:t>
            </a:r>
            <a:r>
              <a:rPr lang="en-US" err="1"/>
              <a:t>Salaire</a:t>
            </a:r>
            <a:r>
              <a:rPr lang="en-US"/>
              <a:t> (boxplots)</a:t>
            </a:r>
            <a:endParaRPr lang="fr-FR" b="1" err="1"/>
          </a:p>
          <a:p>
            <a:pPr marL="285750" indent="-285750">
              <a:buFont typeface="Arial"/>
              <a:buChar char="•"/>
            </a:pPr>
            <a:r>
              <a:rPr lang="en-US"/>
              <a:t>Les </a:t>
            </a:r>
            <a:r>
              <a:rPr lang="en-US" err="1"/>
              <a:t>salaires</a:t>
            </a:r>
            <a:r>
              <a:rPr lang="en-US"/>
              <a:t> </a:t>
            </a:r>
            <a:r>
              <a:rPr lang="en-US" err="1"/>
              <a:t>masculins</a:t>
            </a:r>
            <a:r>
              <a:rPr lang="en-US"/>
              <a:t> </a:t>
            </a:r>
            <a:r>
              <a:rPr lang="en-US" err="1"/>
              <a:t>présentent</a:t>
            </a:r>
            <a:r>
              <a:rPr lang="en-US"/>
              <a:t> </a:t>
            </a:r>
            <a:r>
              <a:rPr lang="en-US" err="1"/>
              <a:t>une</a:t>
            </a:r>
            <a:r>
              <a:rPr lang="en-US"/>
              <a:t> dispersion plus </a:t>
            </a:r>
            <a:r>
              <a:rPr lang="en-US" err="1"/>
              <a:t>élevée</a:t>
            </a:r>
            <a:r>
              <a:rPr lang="en-US"/>
              <a:t> vers le haut, </a:t>
            </a:r>
            <a:r>
              <a:rPr lang="en-US" err="1"/>
              <a:t>indiquant</a:t>
            </a:r>
            <a:r>
              <a:rPr lang="en-US"/>
              <a:t> </a:t>
            </a:r>
            <a:r>
              <a:rPr lang="en-US" err="1"/>
              <a:t>que</a:t>
            </a:r>
            <a:r>
              <a:rPr lang="en-US"/>
              <a:t> les plus </a:t>
            </a:r>
            <a:r>
              <a:rPr lang="en-US" err="1"/>
              <a:t>hauts</a:t>
            </a:r>
            <a:r>
              <a:rPr lang="en-US"/>
              <a:t> </a:t>
            </a:r>
            <a:r>
              <a:rPr lang="en-US" err="1"/>
              <a:t>salaires</a:t>
            </a:r>
            <a:r>
              <a:rPr lang="en-US"/>
              <a:t> </a:t>
            </a:r>
            <a:r>
              <a:rPr lang="en-US" err="1"/>
              <a:t>sont</a:t>
            </a:r>
            <a:r>
              <a:rPr lang="en-US"/>
              <a:t> </a:t>
            </a:r>
            <a:r>
              <a:rPr lang="en-US" err="1"/>
              <a:t>majoritairement</a:t>
            </a:r>
            <a:r>
              <a:rPr lang="en-US"/>
              <a:t> </a:t>
            </a:r>
            <a:r>
              <a:rPr lang="en-US" err="1"/>
              <a:t>détenus</a:t>
            </a:r>
            <a:r>
              <a:rPr lang="en-US"/>
              <a:t> par des hommes.</a:t>
            </a:r>
            <a:endParaRPr lang="fr-FR">
              <a:ea typeface="Calibri"/>
              <a:cs typeface="Calibri"/>
            </a:endParaRPr>
          </a:p>
          <a:p>
            <a:pPr marL="285750" indent="-285750">
              <a:buFont typeface="Arial"/>
              <a:buChar char="•"/>
            </a:pPr>
            <a:r>
              <a:rPr lang="en-US"/>
              <a:t>La </a:t>
            </a:r>
            <a:r>
              <a:rPr lang="en-US" err="1"/>
              <a:t>médiane</a:t>
            </a:r>
            <a:r>
              <a:rPr lang="en-US"/>
              <a:t> des hommes est supérieure à </a:t>
            </a:r>
            <a:r>
              <a:rPr lang="en-US" err="1"/>
              <a:t>celle</a:t>
            </a:r>
            <a:r>
              <a:rPr lang="en-US"/>
              <a:t> des femmes, </a:t>
            </a:r>
            <a:r>
              <a:rPr lang="en-US" err="1"/>
              <a:t>ce</a:t>
            </a:r>
            <a:r>
              <a:rPr lang="en-US"/>
              <a:t> qui </a:t>
            </a:r>
            <a:r>
              <a:rPr lang="en-US" err="1"/>
              <a:t>traduit</a:t>
            </a:r>
            <a:r>
              <a:rPr lang="en-US"/>
              <a:t> un </a:t>
            </a:r>
            <a:r>
              <a:rPr lang="en-US" err="1"/>
              <a:t>écart</a:t>
            </a:r>
            <a:r>
              <a:rPr lang="en-US"/>
              <a:t> pour </a:t>
            </a:r>
            <a:r>
              <a:rPr lang="en-US" err="1"/>
              <a:t>l’employé</a:t>
            </a:r>
            <a:r>
              <a:rPr lang="en-US"/>
              <a:t> “</a:t>
            </a:r>
            <a:r>
              <a:rPr lang="en-US" err="1"/>
              <a:t>typique</a:t>
            </a:r>
            <a:r>
              <a:rPr lang="en-US"/>
              <a:t>” (+6% de </a:t>
            </a:r>
            <a:r>
              <a:rPr lang="en-US" err="1"/>
              <a:t>mediane</a:t>
            </a:r>
            <a:r>
              <a:rPr lang="en-US"/>
              <a:t>)</a:t>
            </a:r>
            <a:endParaRPr lang="fr-FR">
              <a:ea typeface="Calibri"/>
              <a:cs typeface="Calibri"/>
            </a:endParaRPr>
          </a:p>
          <a:p>
            <a:pPr marL="285750" indent="-285750">
              <a:buFont typeface="Arial"/>
              <a:buChar char="•"/>
            </a:pPr>
            <a:r>
              <a:rPr lang="en-US"/>
              <a:t>La </a:t>
            </a:r>
            <a:r>
              <a:rPr lang="en-US" err="1"/>
              <a:t>différence</a:t>
            </a:r>
            <a:r>
              <a:rPr lang="en-US"/>
              <a:t> entre </a:t>
            </a:r>
            <a:r>
              <a:rPr lang="en-US" err="1"/>
              <a:t>moyenne</a:t>
            </a:r>
            <a:r>
              <a:rPr lang="en-US"/>
              <a:t> et </a:t>
            </a:r>
            <a:r>
              <a:rPr lang="en-US" err="1"/>
              <a:t>médiane</a:t>
            </a:r>
            <a:r>
              <a:rPr lang="en-US"/>
              <a:t> montre </a:t>
            </a:r>
            <a:r>
              <a:rPr lang="en-US" err="1"/>
              <a:t>que</a:t>
            </a:r>
            <a:r>
              <a:rPr lang="en-US"/>
              <a:t> la </a:t>
            </a:r>
            <a:r>
              <a:rPr lang="en-US" err="1"/>
              <a:t>moyenne</a:t>
            </a:r>
            <a:r>
              <a:rPr lang="en-US"/>
              <a:t> sous-</a:t>
            </a:r>
            <a:r>
              <a:rPr lang="en-US" err="1"/>
              <a:t>estime</a:t>
            </a:r>
            <a:r>
              <a:rPr lang="en-US"/>
              <a:t> </a:t>
            </a:r>
            <a:r>
              <a:rPr lang="en-US" err="1"/>
              <a:t>l’inégalité</a:t>
            </a:r>
            <a:r>
              <a:rPr lang="en-US"/>
              <a:t> </a:t>
            </a:r>
            <a:r>
              <a:rPr lang="en-US" err="1"/>
              <a:t>vécue</a:t>
            </a:r>
            <a:r>
              <a:rPr lang="en-US"/>
              <a:t> par la </a:t>
            </a:r>
            <a:r>
              <a:rPr lang="en-US" err="1"/>
              <a:t>majorité</a:t>
            </a:r>
            <a:r>
              <a:rPr lang="en-US"/>
              <a:t> des </a:t>
            </a:r>
            <a:r>
              <a:rPr lang="en-US" err="1"/>
              <a:t>salariés</a:t>
            </a:r>
            <a:r>
              <a:rPr lang="en-US"/>
              <a:t>.</a:t>
            </a:r>
            <a:endParaRPr lang="fr-FR">
              <a:ea typeface="Calibri"/>
              <a:cs typeface="Calibri"/>
            </a:endParaRPr>
          </a:p>
          <a:p>
            <a:pPr marL="285750" indent="-285750">
              <a:buFont typeface="Arial"/>
              <a:buChar char="•"/>
            </a:pPr>
            <a:endParaRPr lang="en-US" b="1">
              <a:ea typeface="Calibri"/>
              <a:cs typeface="Calibri"/>
            </a:endParaRPr>
          </a:p>
          <a:p>
            <a:r>
              <a:rPr lang="en-US" b="1" err="1"/>
              <a:t>Analyse</a:t>
            </a:r>
            <a:r>
              <a:rPr lang="en-US" b="1"/>
              <a:t> </a:t>
            </a:r>
            <a:r>
              <a:rPr lang="en-US" b="1" err="1"/>
              <a:t>multivariée</a:t>
            </a:r>
            <a:r>
              <a:rPr lang="en-US" b="1"/>
              <a:t> descriptive </a:t>
            </a:r>
            <a:r>
              <a:rPr lang="en-US"/>
              <a:t>: Genre × </a:t>
            </a:r>
            <a:r>
              <a:rPr lang="en-US" err="1"/>
              <a:t>Âge</a:t>
            </a:r>
            <a:r>
              <a:rPr lang="en-US"/>
              <a:t> × </a:t>
            </a:r>
            <a:r>
              <a:rPr lang="en-US" err="1"/>
              <a:t>Salaire</a:t>
            </a:r>
          </a:p>
          <a:p>
            <a:pPr marL="171450" indent="-171450">
              <a:buFont typeface="Arial"/>
              <a:buChar char="•"/>
            </a:pPr>
            <a:r>
              <a:rPr lang="en-US"/>
              <a:t>Le </a:t>
            </a:r>
            <a:r>
              <a:rPr lang="en-US" err="1"/>
              <a:t>graphique</a:t>
            </a:r>
            <a:r>
              <a:rPr lang="en-US"/>
              <a:t> </a:t>
            </a:r>
            <a:r>
              <a:rPr lang="en-US" err="1"/>
              <a:t>suggère</a:t>
            </a:r>
            <a:r>
              <a:rPr lang="en-US"/>
              <a:t> </a:t>
            </a:r>
            <a:r>
              <a:rPr lang="en-US" err="1"/>
              <a:t>que</a:t>
            </a:r>
            <a:r>
              <a:rPr lang="en-US"/>
              <a:t> la progression </a:t>
            </a:r>
            <a:r>
              <a:rPr lang="en-US" err="1"/>
              <a:t>salariale</a:t>
            </a:r>
            <a:r>
              <a:rPr lang="en-US"/>
              <a:t> est </a:t>
            </a:r>
            <a:r>
              <a:rPr lang="en-US" err="1"/>
              <a:t>davantage</a:t>
            </a:r>
            <a:r>
              <a:rPr lang="en-US"/>
              <a:t> </a:t>
            </a:r>
            <a:r>
              <a:rPr lang="en-US" err="1"/>
              <a:t>liée</a:t>
            </a:r>
            <a:r>
              <a:rPr lang="en-US"/>
              <a:t> à la position </a:t>
            </a:r>
            <a:r>
              <a:rPr lang="en-US" err="1"/>
              <a:t>hiérarchique</a:t>
            </a:r>
            <a:r>
              <a:rPr lang="en-US"/>
              <a:t> </a:t>
            </a:r>
            <a:r>
              <a:rPr lang="en-US" err="1"/>
              <a:t>qu’à</a:t>
            </a:r>
            <a:r>
              <a:rPr lang="en-US"/>
              <a:t> </a:t>
            </a:r>
            <a:r>
              <a:rPr lang="en-US" err="1"/>
              <a:t>l’âge</a:t>
            </a:r>
            <a:r>
              <a:rPr lang="en-US"/>
              <a:t> seul.</a:t>
            </a:r>
            <a:endParaRPr lang="en-US">
              <a:ea typeface="Calibri"/>
              <a:cs typeface="Calibri"/>
            </a:endParaRPr>
          </a:p>
          <a:p>
            <a:pPr marL="171450" indent="-171450">
              <a:buFont typeface="Arial"/>
              <a:buChar char="•"/>
            </a:pPr>
            <a:r>
              <a:rPr lang="en-US"/>
              <a:t>La proportion de femmes </a:t>
            </a:r>
            <a:r>
              <a:rPr lang="en-US" err="1"/>
              <a:t>diminue</a:t>
            </a:r>
            <a:r>
              <a:rPr lang="en-US"/>
              <a:t> </a:t>
            </a:r>
            <a:r>
              <a:rPr lang="en-US" err="1"/>
              <a:t>progressivement</a:t>
            </a:r>
            <a:r>
              <a:rPr lang="en-US"/>
              <a:t> dans les </a:t>
            </a:r>
            <a:r>
              <a:rPr lang="en-US" err="1"/>
              <a:t>niveaux</a:t>
            </a:r>
            <a:r>
              <a:rPr lang="en-US"/>
              <a:t> de </a:t>
            </a:r>
            <a:r>
              <a:rPr lang="en-US" err="1"/>
              <a:t>salaire</a:t>
            </a:r>
            <a:r>
              <a:rPr lang="en-US"/>
              <a:t> </a:t>
            </a:r>
            <a:r>
              <a:rPr lang="en-US" err="1"/>
              <a:t>élevés</a:t>
            </a:r>
            <a:r>
              <a:rPr lang="en-US"/>
              <a:t>.</a:t>
            </a:r>
            <a:endParaRPr lang="en-US">
              <a:ea typeface="Calibri"/>
              <a:cs typeface="Calibri"/>
            </a:endParaRPr>
          </a:p>
          <a:p>
            <a:pPr marL="171450" indent="-171450">
              <a:buFont typeface="Arial"/>
              <a:buChar char="•"/>
            </a:pPr>
            <a:r>
              <a:rPr lang="en-US"/>
              <a:t>Cela </a:t>
            </a:r>
            <a:r>
              <a:rPr lang="en-US" err="1"/>
              <a:t>renforce</a:t>
            </a:r>
            <a:r>
              <a:rPr lang="en-US"/>
              <a:t> </a:t>
            </a:r>
            <a:r>
              <a:rPr lang="en-US" err="1"/>
              <a:t>l’hypothèse</a:t>
            </a:r>
            <a:r>
              <a:rPr lang="en-US"/>
              <a:t> d’un </a:t>
            </a:r>
            <a:r>
              <a:rPr lang="en-US" err="1"/>
              <a:t>effet</a:t>
            </a:r>
            <a:r>
              <a:rPr lang="en-US"/>
              <a:t> </a:t>
            </a:r>
            <a:r>
              <a:rPr lang="en-US" err="1"/>
              <a:t>structurel</a:t>
            </a:r>
            <a:r>
              <a:rPr lang="en-US"/>
              <a:t> </a:t>
            </a:r>
            <a:r>
              <a:rPr lang="en-US" err="1"/>
              <a:t>plutôt</a:t>
            </a:r>
            <a:r>
              <a:rPr lang="en-US"/>
              <a:t> </a:t>
            </a:r>
            <a:r>
              <a:rPr lang="en-US" err="1"/>
              <a:t>qu’un</a:t>
            </a:r>
            <a:r>
              <a:rPr lang="en-US"/>
              <a:t> </a:t>
            </a:r>
            <a:r>
              <a:rPr lang="en-US" err="1"/>
              <a:t>effet</a:t>
            </a:r>
            <a:r>
              <a:rPr lang="en-US"/>
              <a:t> </a:t>
            </a:r>
            <a:r>
              <a:rPr lang="en-US" err="1"/>
              <a:t>purement</a:t>
            </a:r>
            <a:r>
              <a:rPr lang="en-US"/>
              <a:t> </a:t>
            </a:r>
            <a:r>
              <a:rPr lang="en-US" err="1"/>
              <a:t>individuel</a:t>
            </a:r>
            <a:r>
              <a:rPr lang="en-US"/>
              <a:t> </a:t>
            </a:r>
            <a:r>
              <a:rPr lang="en-US" err="1"/>
              <a:t>ou</a:t>
            </a:r>
            <a:r>
              <a:rPr lang="en-US"/>
              <a:t> </a:t>
            </a:r>
            <a:r>
              <a:rPr lang="en-US" err="1"/>
              <a:t>lié</a:t>
            </a:r>
            <a:r>
              <a:rPr lang="en-US"/>
              <a:t> à </a:t>
            </a:r>
            <a:r>
              <a:rPr lang="en-US" err="1"/>
              <a:t>l’ancienneté</a:t>
            </a:r>
            <a:r>
              <a:rPr lang="en-US"/>
              <a:t>.</a:t>
            </a:r>
            <a:endParaRPr lang="en-US">
              <a:ea typeface="Calibri"/>
              <a:cs typeface="Calibri"/>
            </a:endParaRPr>
          </a:p>
          <a:p>
            <a:endParaRPr lang="en-US" b="1">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5</a:t>
            </a:fld>
            <a:endParaRPr lang="fr-FR"/>
          </a:p>
        </p:txBody>
      </p:sp>
    </p:spTree>
    <p:extLst>
      <p:ext uri="{BB962C8B-B14F-4D97-AF65-F5344CB8AC3E}">
        <p14:creationId xmlns:p14="http://schemas.microsoft.com/office/powerpoint/2010/main" val="3242654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Font typeface="Arial"/>
              <a:buChar char="•"/>
            </a:pPr>
            <a:r>
              <a:rPr lang="en-US"/>
              <a:t>Le test du Chi² met </a:t>
            </a:r>
            <a:r>
              <a:rPr lang="en-US" err="1"/>
              <a:t>en</a:t>
            </a:r>
            <a:r>
              <a:rPr lang="en-US"/>
              <a:t> </a:t>
            </a:r>
            <a:r>
              <a:rPr lang="en-US" err="1"/>
              <a:t>évidence</a:t>
            </a:r>
            <a:r>
              <a:rPr lang="en-US"/>
              <a:t> </a:t>
            </a:r>
            <a:r>
              <a:rPr lang="en-US" err="1"/>
              <a:t>une</a:t>
            </a:r>
            <a:r>
              <a:rPr lang="en-US"/>
              <a:t> </a:t>
            </a:r>
            <a:r>
              <a:rPr lang="en-US" err="1"/>
              <a:t>dépendance</a:t>
            </a:r>
            <a:r>
              <a:rPr lang="en-US"/>
              <a:t> </a:t>
            </a:r>
            <a:r>
              <a:rPr lang="en-US" err="1"/>
              <a:t>statistiquement</a:t>
            </a:r>
            <a:r>
              <a:rPr lang="en-US"/>
              <a:t> très significative entre le </a:t>
            </a:r>
            <a:r>
              <a:rPr lang="en-US" err="1"/>
              <a:t>statut</a:t>
            </a:r>
            <a:r>
              <a:rPr lang="en-US"/>
              <a:t> de manager et le </a:t>
            </a:r>
            <a:r>
              <a:rPr lang="en-US" err="1"/>
              <a:t>niveau</a:t>
            </a:r>
            <a:r>
              <a:rPr lang="en-US"/>
              <a:t> </a:t>
            </a:r>
            <a:r>
              <a:rPr lang="en-US" err="1"/>
              <a:t>hiérarchique</a:t>
            </a:r>
            <a:r>
              <a:rPr lang="en-US"/>
              <a:t> (p &lt; 0,001).</a:t>
            </a:r>
            <a:endParaRPr lang="fr-FR">
              <a:ea typeface="Calibri"/>
              <a:cs typeface="Calibri"/>
            </a:endParaRPr>
          </a:p>
          <a:p>
            <a:pPr marL="285750" indent="-285750">
              <a:buFont typeface="Arial"/>
              <a:buChar char="•"/>
            </a:pPr>
            <a:r>
              <a:rPr lang="en-US"/>
              <a:t>Le management est quasi </a:t>
            </a:r>
            <a:r>
              <a:rPr lang="en-US" err="1"/>
              <a:t>exclusivement</a:t>
            </a:r>
            <a:r>
              <a:rPr lang="en-US"/>
              <a:t> accessible à </a:t>
            </a:r>
            <a:r>
              <a:rPr lang="en-US" err="1"/>
              <a:t>partir</a:t>
            </a:r>
            <a:r>
              <a:rPr lang="en-US"/>
              <a:t> des </a:t>
            </a:r>
            <a:r>
              <a:rPr lang="en-US" err="1"/>
              <a:t>niveaux</a:t>
            </a:r>
            <a:r>
              <a:rPr lang="en-US"/>
              <a:t> </a:t>
            </a:r>
            <a:r>
              <a:rPr lang="en-US" err="1"/>
              <a:t>supérieurs</a:t>
            </a:r>
            <a:r>
              <a:rPr lang="en-US"/>
              <a:t> (4+).</a:t>
            </a:r>
            <a:endParaRPr lang="fr-FR">
              <a:ea typeface="Calibri"/>
              <a:cs typeface="Calibri"/>
            </a:endParaRPr>
          </a:p>
          <a:p>
            <a:pPr marL="285750" indent="-285750">
              <a:buFont typeface="Arial"/>
              <a:buChar char="•"/>
            </a:pPr>
            <a:r>
              <a:rPr lang="en-US"/>
              <a:t>La structure </a:t>
            </a:r>
            <a:r>
              <a:rPr lang="en-US" err="1"/>
              <a:t>organisationnelle</a:t>
            </a:r>
            <a:r>
              <a:rPr lang="en-US"/>
              <a:t> est </a:t>
            </a:r>
            <a:r>
              <a:rPr lang="en-US" err="1"/>
              <a:t>fortement</a:t>
            </a:r>
            <a:r>
              <a:rPr lang="en-US"/>
              <a:t> </a:t>
            </a:r>
            <a:r>
              <a:rPr lang="en-US" err="1"/>
              <a:t>segmentée</a:t>
            </a:r>
            <a:r>
              <a:rPr lang="en-US"/>
              <a:t> et non </a:t>
            </a:r>
            <a:r>
              <a:rPr lang="en-US" err="1"/>
              <a:t>aléatoire</a:t>
            </a:r>
            <a:r>
              <a:rPr lang="en-US"/>
              <a:t>.</a:t>
            </a:r>
            <a:endParaRPr lang="fr-F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6</a:t>
            </a:fld>
            <a:endParaRPr lang="fr-FR"/>
          </a:p>
        </p:txBody>
      </p:sp>
    </p:spTree>
    <p:extLst>
      <p:ext uri="{BB962C8B-B14F-4D97-AF65-F5344CB8AC3E}">
        <p14:creationId xmlns:p14="http://schemas.microsoft.com/office/powerpoint/2010/main" val="4275365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F9695-5E6C-EA18-E3B0-5A9CA70A9C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983FA8A-358D-588B-9E78-0F538E1FD3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2D7DDF8-3900-2937-D53D-F7782707F85A}"/>
              </a:ext>
            </a:extLst>
          </p:cNvPr>
          <p:cNvSpPr>
            <a:spLocks noGrp="1"/>
          </p:cNvSpPr>
          <p:nvPr>
            <p:ph type="body" idx="1"/>
          </p:nvPr>
        </p:nvSpPr>
        <p:spPr/>
        <p:txBody>
          <a:bodyPr/>
          <a:lstStyle/>
          <a:p>
            <a:pPr>
              <a:buFont typeface="Arial"/>
              <a:buChar char="•"/>
            </a:pPr>
            <a:r>
              <a:rPr lang="en-US"/>
              <a:t>Le test de Student ne met pas </a:t>
            </a:r>
            <a:r>
              <a:rPr lang="en-US" err="1"/>
              <a:t>en</a:t>
            </a:r>
            <a:r>
              <a:rPr lang="en-US"/>
              <a:t> </a:t>
            </a:r>
            <a:r>
              <a:rPr lang="en-US" err="1"/>
              <a:t>évidence</a:t>
            </a:r>
            <a:r>
              <a:rPr lang="en-US"/>
              <a:t> de </a:t>
            </a:r>
            <a:r>
              <a:rPr lang="en-US" err="1"/>
              <a:t>différence</a:t>
            </a:r>
            <a:r>
              <a:rPr lang="en-US"/>
              <a:t> </a:t>
            </a:r>
            <a:r>
              <a:rPr lang="en-US" err="1"/>
              <a:t>statistiquement</a:t>
            </a:r>
            <a:r>
              <a:rPr lang="en-US"/>
              <a:t> significative entre les </a:t>
            </a:r>
            <a:r>
              <a:rPr lang="en-US" err="1"/>
              <a:t>salaires</a:t>
            </a:r>
            <a:r>
              <a:rPr lang="en-US"/>
              <a:t> moyens des femmes et des hommes (p-value = 0,3661 &gt; 0,05).</a:t>
            </a:r>
            <a:endParaRPr lang="en-US">
              <a:ea typeface="Calibri"/>
              <a:cs typeface="Calibri"/>
            </a:endParaRPr>
          </a:p>
          <a:p>
            <a:pPr>
              <a:buFont typeface="Arial"/>
              <a:buChar char="•"/>
            </a:pPr>
            <a:r>
              <a:rPr lang="en-US" err="1"/>
              <a:t>L’hypothèse</a:t>
            </a:r>
            <a:r>
              <a:rPr lang="en-US"/>
              <a:t> </a:t>
            </a:r>
            <a:r>
              <a:rPr lang="en-US" err="1"/>
              <a:t>d’égalité</a:t>
            </a:r>
            <a:r>
              <a:rPr lang="en-US"/>
              <a:t> des moyennes ne peut donc pas être rejetée.</a:t>
            </a:r>
            <a:endParaRPr lang="en-US">
              <a:ea typeface="Calibri"/>
              <a:cs typeface="Calibri"/>
            </a:endParaRPr>
          </a:p>
          <a:p>
            <a:pPr>
              <a:buFont typeface="Arial"/>
              <a:buChar char="•"/>
            </a:pPr>
            <a:r>
              <a:rPr lang="en-US" err="1"/>
              <a:t>L’écart</a:t>
            </a:r>
            <a:r>
              <a:rPr lang="en-US"/>
              <a:t> moyen </a:t>
            </a:r>
            <a:r>
              <a:rPr lang="en-US" err="1"/>
              <a:t>observé</a:t>
            </a:r>
            <a:r>
              <a:rPr lang="en-US"/>
              <a:t> </a:t>
            </a:r>
            <a:r>
              <a:rPr lang="en-US" err="1"/>
              <a:t>d’environ</a:t>
            </a:r>
            <a:r>
              <a:rPr lang="en-US"/>
              <a:t> 3,24 % </a:t>
            </a:r>
            <a:r>
              <a:rPr lang="en-US" err="1"/>
              <a:t>en</a:t>
            </a:r>
            <a:r>
              <a:rPr lang="en-US"/>
              <a:t> </a:t>
            </a:r>
            <a:r>
              <a:rPr lang="en-US" err="1"/>
              <a:t>faveur</a:t>
            </a:r>
            <a:r>
              <a:rPr lang="en-US"/>
              <a:t> des hommes </a:t>
            </a:r>
            <a:r>
              <a:rPr lang="en-US" err="1"/>
              <a:t>reste</a:t>
            </a:r>
            <a:r>
              <a:rPr lang="en-US"/>
              <a:t> </a:t>
            </a:r>
            <a:r>
              <a:rPr lang="en-US" err="1"/>
              <a:t>faible</a:t>
            </a:r>
            <a:r>
              <a:rPr lang="en-US"/>
              <a:t> au regard de la forte dispersion des </a:t>
            </a:r>
            <a:r>
              <a:rPr lang="en-US" err="1"/>
              <a:t>salaires</a:t>
            </a:r>
            <a:r>
              <a:rPr lang="en-US"/>
              <a:t>.</a:t>
            </a:r>
            <a:endParaRPr lang="en-US">
              <a:ea typeface="Calibri"/>
              <a:cs typeface="Calibri"/>
            </a:endParaRPr>
          </a:p>
          <a:p>
            <a:pPr>
              <a:buFont typeface="Arial"/>
              <a:buChar char="•"/>
            </a:pPr>
            <a:r>
              <a:rPr lang="en-US"/>
              <a:t>Cette </a:t>
            </a:r>
            <a:r>
              <a:rPr lang="en-US" err="1"/>
              <a:t>différence</a:t>
            </a:r>
            <a:r>
              <a:rPr lang="en-US"/>
              <a:t> </a:t>
            </a:r>
            <a:r>
              <a:rPr lang="en-US" err="1"/>
              <a:t>n’est</a:t>
            </a:r>
            <a:r>
              <a:rPr lang="en-US"/>
              <a:t> pas </a:t>
            </a:r>
            <a:r>
              <a:rPr lang="en-US" err="1"/>
              <a:t>statistiquement</a:t>
            </a:r>
            <a:r>
              <a:rPr lang="en-US"/>
              <a:t> significative dans le cadre </a:t>
            </a:r>
            <a:r>
              <a:rPr lang="en-US" err="1"/>
              <a:t>d’une</a:t>
            </a:r>
            <a:r>
              <a:rPr lang="en-US"/>
              <a:t> </a:t>
            </a:r>
            <a:r>
              <a:rPr lang="en-US" err="1"/>
              <a:t>analyse</a:t>
            </a:r>
            <a:r>
              <a:rPr lang="en-US"/>
              <a:t> </a:t>
            </a:r>
            <a:r>
              <a:rPr lang="en-US" err="1"/>
              <a:t>globale</a:t>
            </a:r>
            <a:r>
              <a:rPr lang="en-US"/>
              <a:t> non </a:t>
            </a:r>
            <a:r>
              <a:rPr lang="en-US" err="1"/>
              <a:t>conditionnelle</a:t>
            </a:r>
            <a:r>
              <a:rPr lang="en-US"/>
              <a:t>.</a:t>
            </a:r>
            <a:endParaRPr lang="en-US">
              <a:ea typeface="Calibri"/>
              <a:cs typeface="Calibri"/>
            </a:endParaRPr>
          </a:p>
          <a:p>
            <a:pPr>
              <a:buFont typeface="Arial"/>
              <a:buChar char="•"/>
            </a:pPr>
            <a:r>
              <a:rPr lang="en-US"/>
              <a:t>Les </a:t>
            </a:r>
            <a:r>
              <a:rPr lang="en-US" err="1"/>
              <a:t>écarts</a:t>
            </a:r>
            <a:r>
              <a:rPr lang="en-US"/>
              <a:t> </a:t>
            </a:r>
            <a:r>
              <a:rPr lang="en-US" err="1"/>
              <a:t>visibles</a:t>
            </a:r>
            <a:r>
              <a:rPr lang="en-US"/>
              <a:t> dans les analyses descriptives </a:t>
            </a:r>
            <a:r>
              <a:rPr lang="en-US" err="1"/>
              <a:t>suggèrent</a:t>
            </a:r>
            <a:r>
              <a:rPr lang="en-US"/>
              <a:t> un </a:t>
            </a:r>
            <a:r>
              <a:rPr lang="en-US" err="1"/>
              <a:t>effet</a:t>
            </a:r>
            <a:r>
              <a:rPr lang="en-US"/>
              <a:t> de structure (</a:t>
            </a:r>
            <a:r>
              <a:rPr lang="en-US" err="1"/>
              <a:t>répartition</a:t>
            </a:r>
            <a:r>
              <a:rPr lang="en-US"/>
              <a:t> </a:t>
            </a:r>
            <a:r>
              <a:rPr lang="en-US" err="1"/>
              <a:t>différenciée</a:t>
            </a:r>
            <a:r>
              <a:rPr lang="en-US"/>
              <a:t> des </a:t>
            </a:r>
            <a:r>
              <a:rPr lang="en-US" err="1"/>
              <a:t>niveaux</a:t>
            </a:r>
            <a:r>
              <a:rPr lang="en-US"/>
              <a:t> </a:t>
            </a:r>
            <a:r>
              <a:rPr lang="en-US" err="1"/>
              <a:t>hiérarchiques</a:t>
            </a:r>
            <a:r>
              <a:rPr lang="en-US"/>
              <a:t>) </a:t>
            </a:r>
            <a:r>
              <a:rPr lang="en-US" err="1"/>
              <a:t>plutôt</a:t>
            </a:r>
            <a:r>
              <a:rPr lang="en-US"/>
              <a:t> </a:t>
            </a:r>
            <a:r>
              <a:rPr lang="en-US" err="1"/>
              <a:t>qu’une</a:t>
            </a:r>
            <a:r>
              <a:rPr lang="en-US"/>
              <a:t> </a:t>
            </a:r>
            <a:r>
              <a:rPr lang="en-US" err="1"/>
              <a:t>inégalité</a:t>
            </a:r>
            <a:r>
              <a:rPr lang="en-US"/>
              <a:t> </a:t>
            </a:r>
            <a:r>
              <a:rPr lang="en-US" err="1"/>
              <a:t>salariale</a:t>
            </a:r>
            <a:r>
              <a:rPr lang="en-US"/>
              <a:t> </a:t>
            </a:r>
            <a:r>
              <a:rPr lang="en-US" err="1"/>
              <a:t>directe</a:t>
            </a:r>
            <a:r>
              <a:rPr lang="en-US"/>
              <a:t> à genre </a:t>
            </a:r>
            <a:r>
              <a:rPr lang="en-US" err="1"/>
              <a:t>égal</a:t>
            </a:r>
            <a:r>
              <a:rPr lang="en-US"/>
              <a:t>.</a:t>
            </a:r>
            <a:endParaRPr lang="en-US">
              <a:ea typeface="Calibri"/>
              <a:cs typeface="Calibri"/>
            </a:endParaRPr>
          </a:p>
          <a:p>
            <a:pPr marL="285750" indent="-285750">
              <a:buFont typeface="Arial"/>
              <a:buChar char="•"/>
            </a:pPr>
            <a:endParaRPr lang="en-US">
              <a:ea typeface="Calibri"/>
              <a:cs typeface="Calibri"/>
            </a:endParaRPr>
          </a:p>
        </p:txBody>
      </p:sp>
      <p:sp>
        <p:nvSpPr>
          <p:cNvPr id="4" name="Espace réservé du numéro de diapositive 3">
            <a:extLst>
              <a:ext uri="{FF2B5EF4-FFF2-40B4-BE49-F238E27FC236}">
                <a16:creationId xmlns:a16="http://schemas.microsoft.com/office/drawing/2014/main" id="{6F590858-9046-12C5-BE18-40316274BA56}"/>
              </a:ext>
            </a:extLst>
          </p:cNvPr>
          <p:cNvSpPr>
            <a:spLocks noGrp="1"/>
          </p:cNvSpPr>
          <p:nvPr>
            <p:ph type="sldNum" sz="quarter" idx="5"/>
          </p:nvPr>
        </p:nvSpPr>
        <p:spPr/>
        <p:txBody>
          <a:bodyPr/>
          <a:lstStyle/>
          <a:p>
            <a:fld id="{F863A213-A343-461A-B069-EB4D4D1C1278}" type="slidenum">
              <a:t>7</a:t>
            </a:fld>
            <a:endParaRPr lang="fr-FR"/>
          </a:p>
        </p:txBody>
      </p:sp>
    </p:spTree>
    <p:extLst>
      <p:ext uri="{BB962C8B-B14F-4D97-AF65-F5344CB8AC3E}">
        <p14:creationId xmlns:p14="http://schemas.microsoft.com/office/powerpoint/2010/main" val="3758694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Font typeface="Arial"/>
              <a:buChar char="•"/>
            </a:pPr>
            <a:r>
              <a:rPr lang="en-US" err="1"/>
              <a:t>Aucun</a:t>
            </a:r>
            <a:r>
              <a:rPr lang="en-US"/>
              <a:t> lien </a:t>
            </a:r>
            <a:r>
              <a:rPr lang="en-US" err="1"/>
              <a:t>statistiquement</a:t>
            </a:r>
            <a:r>
              <a:rPr lang="en-US"/>
              <a:t> </a:t>
            </a:r>
            <a:r>
              <a:rPr lang="en-US" err="1"/>
              <a:t>significatif</a:t>
            </a:r>
            <a:r>
              <a:rPr lang="en-US"/>
              <a:t> </a:t>
            </a:r>
            <a:r>
              <a:rPr lang="en-US" err="1"/>
              <a:t>n’est</a:t>
            </a:r>
            <a:r>
              <a:rPr lang="en-US"/>
              <a:t> </a:t>
            </a:r>
            <a:r>
              <a:rPr lang="en-US" err="1"/>
              <a:t>observé</a:t>
            </a:r>
            <a:r>
              <a:rPr lang="en-US"/>
              <a:t> entre </a:t>
            </a:r>
            <a:r>
              <a:rPr lang="en-US" err="1"/>
              <a:t>l’âge</a:t>
            </a:r>
            <a:r>
              <a:rPr lang="en-US"/>
              <a:t> et la part variable </a:t>
            </a:r>
            <a:r>
              <a:rPr lang="en-US" err="1"/>
              <a:t>managériale</a:t>
            </a:r>
            <a:r>
              <a:rPr lang="en-US"/>
              <a:t>.</a:t>
            </a:r>
            <a:endParaRPr lang="fr-FR">
              <a:ea typeface="Calibri"/>
              <a:cs typeface="Calibri"/>
            </a:endParaRPr>
          </a:p>
          <a:p>
            <a:pPr marL="285750" indent="-285750">
              <a:buFont typeface="Arial"/>
              <a:buChar char="•"/>
            </a:pPr>
            <a:r>
              <a:rPr lang="en-US" err="1"/>
              <a:t>L’âge</a:t>
            </a:r>
            <a:r>
              <a:rPr lang="en-US"/>
              <a:t> </a:t>
            </a:r>
            <a:r>
              <a:rPr lang="en-US" err="1"/>
              <a:t>n’explique</a:t>
            </a:r>
            <a:r>
              <a:rPr lang="en-US"/>
              <a:t> </a:t>
            </a:r>
            <a:r>
              <a:rPr lang="en-US" err="1"/>
              <a:t>qu’une</a:t>
            </a:r>
            <a:r>
              <a:rPr lang="en-US"/>
              <a:t> part </a:t>
            </a:r>
            <a:r>
              <a:rPr lang="en-US" err="1"/>
              <a:t>négligeable</a:t>
            </a:r>
            <a:r>
              <a:rPr lang="en-US"/>
              <a:t> de la variance de </a:t>
            </a:r>
            <a:r>
              <a:rPr lang="en-US" err="1"/>
              <a:t>cette</a:t>
            </a:r>
            <a:r>
              <a:rPr lang="en-US"/>
              <a:t> </a:t>
            </a:r>
            <a:r>
              <a:rPr lang="en-US" err="1"/>
              <a:t>rémunération</a:t>
            </a:r>
            <a:r>
              <a:rPr lang="en-US"/>
              <a:t>.</a:t>
            </a:r>
            <a:endParaRPr lang="fr-FR">
              <a:ea typeface="Calibri"/>
              <a:cs typeface="Calibri"/>
            </a:endParaRPr>
          </a:p>
          <a:p>
            <a:pPr marL="285750" indent="-285750">
              <a:buFont typeface="Arial"/>
              <a:buChar char="•"/>
            </a:pPr>
            <a:r>
              <a:rPr lang="en-US"/>
              <a:t>La </a:t>
            </a:r>
            <a:r>
              <a:rPr lang="en-US" err="1"/>
              <a:t>rémunération</a:t>
            </a:r>
            <a:r>
              <a:rPr lang="en-US"/>
              <a:t> variable </a:t>
            </a:r>
            <a:r>
              <a:rPr lang="en-US" err="1"/>
              <a:t>managériale</a:t>
            </a:r>
            <a:r>
              <a:rPr lang="en-US"/>
              <a:t> </a:t>
            </a:r>
            <a:r>
              <a:rPr lang="en-US" err="1"/>
              <a:t>dépend</a:t>
            </a:r>
            <a:r>
              <a:rPr lang="en-US"/>
              <a:t> </a:t>
            </a:r>
            <a:r>
              <a:rPr lang="en-US" err="1"/>
              <a:t>donc</a:t>
            </a:r>
            <a:r>
              <a:rPr lang="en-US"/>
              <a:t> </a:t>
            </a:r>
            <a:r>
              <a:rPr lang="en-US" err="1"/>
              <a:t>davantage</a:t>
            </a:r>
            <a:r>
              <a:rPr lang="en-US"/>
              <a:t> du poste </a:t>
            </a:r>
            <a:r>
              <a:rPr lang="en-US" err="1"/>
              <a:t>occupé</a:t>
            </a:r>
            <a:r>
              <a:rPr lang="en-US"/>
              <a:t> </a:t>
            </a:r>
            <a:r>
              <a:rPr lang="en-US" err="1"/>
              <a:t>que</a:t>
            </a:r>
            <a:r>
              <a:rPr lang="en-US"/>
              <a:t> de </a:t>
            </a:r>
            <a:r>
              <a:rPr lang="en-US" err="1"/>
              <a:t>l’âge</a:t>
            </a:r>
            <a:r>
              <a:rPr lang="en-US"/>
              <a:t> </a:t>
            </a:r>
            <a:r>
              <a:rPr lang="en-US" err="1"/>
              <a:t>ou</a:t>
            </a:r>
            <a:r>
              <a:rPr lang="en-US"/>
              <a:t> de </a:t>
            </a:r>
            <a:r>
              <a:rPr lang="en-US" err="1"/>
              <a:t>l’ancienneté</a:t>
            </a:r>
            <a:r>
              <a:rPr lang="en-US"/>
              <a:t>.</a:t>
            </a:r>
            <a:endParaRPr lang="fr-F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8</a:t>
            </a:fld>
            <a:endParaRPr lang="fr-FR"/>
          </a:p>
        </p:txBody>
      </p:sp>
    </p:spTree>
    <p:extLst>
      <p:ext uri="{BB962C8B-B14F-4D97-AF65-F5344CB8AC3E}">
        <p14:creationId xmlns:p14="http://schemas.microsoft.com/office/powerpoint/2010/main" val="1170155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285750" indent="-285750">
              <a:buFont typeface="Arial"/>
              <a:buChar char="•"/>
            </a:pPr>
            <a:r>
              <a:rPr lang="en-US"/>
              <a:t>Le </a:t>
            </a:r>
            <a:r>
              <a:rPr lang="en-US" err="1"/>
              <a:t>niveau</a:t>
            </a:r>
            <a:r>
              <a:rPr lang="en-US"/>
              <a:t> </a:t>
            </a:r>
            <a:r>
              <a:rPr lang="en-US" err="1"/>
              <a:t>hiérarchique</a:t>
            </a:r>
            <a:r>
              <a:rPr lang="en-US"/>
              <a:t> a un </a:t>
            </a:r>
            <a:r>
              <a:rPr lang="en-US" err="1"/>
              <a:t>effet</a:t>
            </a:r>
            <a:r>
              <a:rPr lang="en-US"/>
              <a:t> </a:t>
            </a:r>
            <a:r>
              <a:rPr lang="en-US" err="1"/>
              <a:t>extrêmement</a:t>
            </a:r>
            <a:r>
              <a:rPr lang="en-US"/>
              <a:t> </a:t>
            </a:r>
            <a:r>
              <a:rPr lang="en-US" err="1"/>
              <a:t>significatif</a:t>
            </a:r>
            <a:r>
              <a:rPr lang="en-US"/>
              <a:t> sur le </a:t>
            </a:r>
            <a:r>
              <a:rPr lang="en-US" err="1"/>
              <a:t>salaire</a:t>
            </a:r>
            <a:r>
              <a:rPr lang="en-US"/>
              <a:t> (p &lt; 0,001).</a:t>
            </a:r>
            <a:endParaRPr lang="fr-FR"/>
          </a:p>
          <a:p>
            <a:pPr marL="285750" indent="-285750">
              <a:buFont typeface="Arial"/>
              <a:buChar char="•"/>
            </a:pPr>
            <a:r>
              <a:rPr lang="en-US"/>
              <a:t>Les </a:t>
            </a:r>
            <a:r>
              <a:rPr lang="en-US" err="1"/>
              <a:t>salaires</a:t>
            </a:r>
            <a:r>
              <a:rPr lang="en-US"/>
              <a:t> </a:t>
            </a:r>
            <a:r>
              <a:rPr lang="en-US" err="1"/>
              <a:t>augmentent</a:t>
            </a:r>
            <a:r>
              <a:rPr lang="en-US"/>
              <a:t> </a:t>
            </a:r>
            <a:r>
              <a:rPr lang="en-US" err="1"/>
              <a:t>clairement</a:t>
            </a:r>
            <a:r>
              <a:rPr lang="en-US"/>
              <a:t> avec le </a:t>
            </a:r>
            <a:r>
              <a:rPr lang="en-US" err="1"/>
              <a:t>niveau</a:t>
            </a:r>
            <a:r>
              <a:rPr lang="en-US"/>
              <a:t> </a:t>
            </a:r>
            <a:r>
              <a:rPr lang="en-US" err="1"/>
              <a:t>hiérarchique</a:t>
            </a:r>
            <a:r>
              <a:rPr lang="en-US"/>
              <a:t>.</a:t>
            </a:r>
            <a:endParaRPr lang="fr-FR"/>
          </a:p>
          <a:p>
            <a:pPr marL="285750" indent="-285750">
              <a:buFont typeface="Arial"/>
              <a:buChar char="•"/>
            </a:pPr>
            <a:r>
              <a:rPr lang="en-US"/>
              <a:t>Malgré </a:t>
            </a:r>
            <a:r>
              <a:rPr lang="en-US" err="1"/>
              <a:t>une</a:t>
            </a:r>
            <a:r>
              <a:rPr lang="en-US"/>
              <a:t> </a:t>
            </a:r>
            <a:r>
              <a:rPr lang="en-US" err="1"/>
              <a:t>hétérogénéité</a:t>
            </a:r>
            <a:r>
              <a:rPr lang="en-US"/>
              <a:t> des variances, </a:t>
            </a:r>
            <a:r>
              <a:rPr lang="en-US" err="1"/>
              <a:t>l’ANOVA</a:t>
            </a:r>
            <a:r>
              <a:rPr lang="en-US"/>
              <a:t> </a:t>
            </a:r>
            <a:r>
              <a:rPr lang="en-US" err="1"/>
              <a:t>reste</a:t>
            </a:r>
            <a:r>
              <a:rPr lang="en-US"/>
              <a:t> </a:t>
            </a:r>
            <a:r>
              <a:rPr lang="en-US" err="1"/>
              <a:t>robuste</a:t>
            </a:r>
            <a:r>
              <a:rPr lang="en-US"/>
              <a:t> </a:t>
            </a:r>
            <a:r>
              <a:rPr lang="en-US" err="1"/>
              <a:t>compte</a:t>
            </a:r>
            <a:r>
              <a:rPr lang="en-US"/>
              <a:t> </a:t>
            </a:r>
            <a:r>
              <a:rPr lang="en-US" err="1"/>
              <a:t>tenu</a:t>
            </a:r>
            <a:r>
              <a:rPr lang="en-US"/>
              <a:t> de la taille de </a:t>
            </a:r>
            <a:r>
              <a:rPr lang="en-US" err="1"/>
              <a:t>l’échantillon</a:t>
            </a:r>
            <a:r>
              <a:rPr lang="en-US"/>
              <a:t>.</a:t>
            </a:r>
            <a:endParaRPr lang="fr-FR"/>
          </a:p>
          <a:p>
            <a:pPr marL="285750" indent="-285750">
              <a:buFont typeface="Arial"/>
              <a:buChar char="•"/>
            </a:pPr>
            <a:r>
              <a:rPr lang="en-US"/>
              <a:t>Le </a:t>
            </a:r>
            <a:r>
              <a:rPr lang="en-US" err="1"/>
              <a:t>niveau</a:t>
            </a:r>
            <a:r>
              <a:rPr lang="en-US"/>
              <a:t> </a:t>
            </a:r>
            <a:r>
              <a:rPr lang="en-US" err="1"/>
              <a:t>hiérarchique</a:t>
            </a:r>
            <a:r>
              <a:rPr lang="en-US"/>
              <a:t> est le principal </a:t>
            </a:r>
            <a:r>
              <a:rPr lang="en-US" err="1"/>
              <a:t>déterminant</a:t>
            </a:r>
            <a:r>
              <a:rPr lang="en-US"/>
              <a:t> du </a:t>
            </a:r>
            <a:r>
              <a:rPr lang="en-US" err="1"/>
              <a:t>salaire</a:t>
            </a:r>
            <a:r>
              <a:rPr lang="en-US"/>
              <a:t> dans </a:t>
            </a:r>
            <a:r>
              <a:rPr lang="en-US" err="1"/>
              <a:t>l’entreprise</a:t>
            </a:r>
            <a:r>
              <a:rPr lang="en-US"/>
              <a:t>.</a:t>
            </a:r>
            <a:endParaRPr lang="fr-FR"/>
          </a:p>
          <a:p>
            <a:pPr marL="285750" indent="-285750">
              <a:buFont typeface="Arial"/>
              <a:buChar char="•"/>
            </a:pPr>
            <a:endParaRPr lang="en-US">
              <a:ea typeface="Calibri"/>
              <a:cs typeface="Calibri"/>
            </a:endParaRPr>
          </a:p>
          <a:p>
            <a:r>
              <a:rPr lang="en-US">
                <a:ea typeface="Calibri"/>
                <a:cs typeface="Calibri"/>
              </a:rPr>
              <a:t>Conclusion :</a:t>
            </a:r>
          </a:p>
          <a:p>
            <a:pPr marL="171450" indent="-171450">
              <a:buFont typeface="Arial"/>
              <a:buChar char="•"/>
            </a:pPr>
            <a:r>
              <a:rPr lang="en-US"/>
              <a:t>Il </a:t>
            </a:r>
            <a:r>
              <a:rPr lang="en-US" err="1"/>
              <a:t>n’existe</a:t>
            </a:r>
            <a:r>
              <a:rPr lang="en-US"/>
              <a:t> pas de </a:t>
            </a:r>
            <a:r>
              <a:rPr lang="en-US" err="1"/>
              <a:t>preuve</a:t>
            </a:r>
            <a:r>
              <a:rPr lang="en-US"/>
              <a:t> </a:t>
            </a:r>
            <a:r>
              <a:rPr lang="en-US" err="1"/>
              <a:t>statistique</a:t>
            </a:r>
            <a:r>
              <a:rPr lang="en-US"/>
              <a:t> d’un </a:t>
            </a:r>
            <a:r>
              <a:rPr lang="en-US" err="1"/>
              <a:t>écart</a:t>
            </a:r>
            <a:r>
              <a:rPr lang="en-US"/>
              <a:t> </a:t>
            </a:r>
            <a:r>
              <a:rPr lang="en-US" err="1"/>
              <a:t>salarial</a:t>
            </a:r>
            <a:r>
              <a:rPr lang="en-US"/>
              <a:t> moyen direct entre hommes et femmes.</a:t>
            </a:r>
            <a:endParaRPr lang="en-US">
              <a:ea typeface="Calibri"/>
              <a:cs typeface="Calibri"/>
            </a:endParaRPr>
          </a:p>
          <a:p>
            <a:pPr marL="171450" indent="-171450">
              <a:buFont typeface="Arial"/>
              <a:buChar char="•"/>
            </a:pPr>
            <a:r>
              <a:rPr lang="en-US"/>
              <a:t>En revanche, il </a:t>
            </a:r>
            <a:r>
              <a:rPr lang="en-US" err="1"/>
              <a:t>existe</a:t>
            </a:r>
            <a:r>
              <a:rPr lang="en-US"/>
              <a:t> </a:t>
            </a:r>
            <a:r>
              <a:rPr lang="en-US" err="1"/>
              <a:t>une</a:t>
            </a:r>
            <a:r>
              <a:rPr lang="en-US"/>
              <a:t> </a:t>
            </a:r>
            <a:r>
              <a:rPr lang="en-US" err="1"/>
              <a:t>inégalité</a:t>
            </a:r>
            <a:r>
              <a:rPr lang="en-US"/>
              <a:t> </a:t>
            </a:r>
            <a:r>
              <a:rPr lang="en-US" err="1"/>
              <a:t>structurelle</a:t>
            </a:r>
            <a:r>
              <a:rPr lang="en-US"/>
              <a:t> </a:t>
            </a:r>
            <a:r>
              <a:rPr lang="en-US" err="1"/>
              <a:t>liée</a:t>
            </a:r>
            <a:r>
              <a:rPr lang="en-US"/>
              <a:t> à la </a:t>
            </a:r>
            <a:r>
              <a:rPr lang="en-US" err="1"/>
              <a:t>répartition</a:t>
            </a:r>
            <a:r>
              <a:rPr lang="en-US"/>
              <a:t> </a:t>
            </a:r>
            <a:r>
              <a:rPr lang="en-US" err="1"/>
              <a:t>genrée</a:t>
            </a:r>
            <a:r>
              <a:rPr lang="en-US"/>
              <a:t> des </a:t>
            </a:r>
            <a:r>
              <a:rPr lang="en-US" err="1"/>
              <a:t>niveaux</a:t>
            </a:r>
            <a:r>
              <a:rPr lang="en-US"/>
              <a:t> </a:t>
            </a:r>
            <a:r>
              <a:rPr lang="en-US" err="1"/>
              <a:t>hiérarchiques</a:t>
            </a:r>
            <a:r>
              <a:rPr lang="en-US"/>
              <a:t>.</a:t>
            </a:r>
            <a:endParaRPr lang="en-US">
              <a:ea typeface="Calibri"/>
              <a:cs typeface="Calibri"/>
            </a:endParaRPr>
          </a:p>
          <a:p>
            <a:pPr marL="171450" indent="-171450">
              <a:buFont typeface="Arial"/>
              <a:buChar char="•"/>
            </a:pPr>
            <a:r>
              <a:rPr lang="en-US" err="1"/>
              <a:t>L’écart</a:t>
            </a:r>
            <a:r>
              <a:rPr lang="en-US"/>
              <a:t> </a:t>
            </a:r>
            <a:r>
              <a:rPr lang="en-US" err="1"/>
              <a:t>salarial</a:t>
            </a:r>
            <a:r>
              <a:rPr lang="en-US"/>
              <a:t> </a:t>
            </a:r>
            <a:r>
              <a:rPr lang="en-US" err="1"/>
              <a:t>observé</a:t>
            </a:r>
            <a:r>
              <a:rPr lang="en-US"/>
              <a:t> est indirect, </a:t>
            </a:r>
            <a:r>
              <a:rPr lang="en-US" err="1"/>
              <a:t>produit</a:t>
            </a:r>
            <a:r>
              <a:rPr lang="en-US"/>
              <a:t> par la structure </a:t>
            </a:r>
            <a:r>
              <a:rPr lang="en-US" err="1"/>
              <a:t>organisationnelle</a:t>
            </a:r>
            <a:r>
              <a:rPr lang="en-US"/>
              <a:t> et non par </a:t>
            </a:r>
            <a:r>
              <a:rPr lang="en-US" err="1"/>
              <a:t>une</a:t>
            </a:r>
            <a:r>
              <a:rPr lang="en-US"/>
              <a:t> discrimination </a:t>
            </a:r>
            <a:r>
              <a:rPr lang="en-US" err="1"/>
              <a:t>salariale</a:t>
            </a:r>
            <a:r>
              <a:rPr lang="en-US"/>
              <a:t> brute à poste </a:t>
            </a:r>
            <a:r>
              <a:rPr lang="en-US" err="1"/>
              <a:t>équivalent</a:t>
            </a:r>
            <a:r>
              <a:rPr lang="en-US"/>
              <a:t>.</a:t>
            </a:r>
            <a:endParaRPr lang="en-US">
              <a:ea typeface="Calibri"/>
              <a:cs typeface="Calibri"/>
            </a:endParaRPr>
          </a:p>
          <a:p>
            <a:endParaRPr lang="en-US">
              <a:ea typeface="Calibri"/>
              <a:cs typeface="Calibri"/>
            </a:endParaRPr>
          </a:p>
          <a:p>
            <a:endParaRPr lang="en-US">
              <a:ea typeface="Calibri"/>
              <a:cs typeface="Calibri"/>
            </a:endParaRPr>
          </a:p>
        </p:txBody>
      </p:sp>
      <p:sp>
        <p:nvSpPr>
          <p:cNvPr id="4" name="Espace réservé du numéro de diapositive 3"/>
          <p:cNvSpPr>
            <a:spLocks noGrp="1"/>
          </p:cNvSpPr>
          <p:nvPr>
            <p:ph type="sldNum" sz="quarter" idx="5"/>
          </p:nvPr>
        </p:nvSpPr>
        <p:spPr/>
        <p:txBody>
          <a:bodyPr/>
          <a:lstStyle/>
          <a:p>
            <a:fld id="{F863A213-A343-461A-B069-EB4D4D1C1278}" type="slidenum">
              <a:t>9</a:t>
            </a:fld>
            <a:endParaRPr lang="fr-FR"/>
          </a:p>
        </p:txBody>
      </p:sp>
    </p:spTree>
    <p:extLst>
      <p:ext uri="{BB962C8B-B14F-4D97-AF65-F5344CB8AC3E}">
        <p14:creationId xmlns:p14="http://schemas.microsoft.com/office/powerpoint/2010/main" val="3022841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09/02/2026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09/02/2026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09/02/2026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09/02/2026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09/02/2026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09/02/2026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09/02/2026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09/02/2026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09/02/2026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09/02/2026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09/02/2026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09/02/2026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FF85DA0-6D92-5349-2778-D8EF31345E94}"/>
              </a:ext>
            </a:extLst>
          </p:cNvPr>
          <p:cNvSpPr>
            <a:spLocks noGrp="1"/>
          </p:cNvSpPr>
          <p:nvPr>
            <p:ph idx="1"/>
          </p:nvPr>
        </p:nvSpPr>
        <p:spPr>
          <a:xfrm>
            <a:off x="1018674" y="804016"/>
            <a:ext cx="10515600" cy="1673237"/>
          </a:xfrm>
          <a:ln>
            <a:solidFill>
              <a:schemeClr val="tx2">
                <a:lumMod val="75000"/>
                <a:lumOff val="25000"/>
              </a:schemeClr>
            </a:solidFill>
          </a:ln>
        </p:spPr>
        <p:txBody>
          <a:bodyPr vert="horz" lIns="91440" tIns="45720" rIns="91440" bIns="45720" rtlCol="0" anchor="t">
            <a:normAutofit/>
          </a:bodyPr>
          <a:lstStyle/>
          <a:p>
            <a:pPr marL="0" indent="0">
              <a:buNone/>
            </a:pPr>
            <a:endParaRPr lang="fr-FR" sz="3600">
              <a:solidFill>
                <a:srgbClr val="156082"/>
              </a:solidFill>
              <a:highlight>
                <a:srgbClr val="FFFFFF"/>
              </a:highlight>
              <a:latin typeface="Aptos Narrow"/>
            </a:endParaRPr>
          </a:p>
          <a:p>
            <a:pPr marL="0" indent="0">
              <a:buNone/>
            </a:pPr>
            <a:r>
              <a:rPr lang="fr-FR" sz="3600">
                <a:solidFill>
                  <a:srgbClr val="156082"/>
                </a:solidFill>
                <a:highlight>
                  <a:srgbClr val="FFFFFF"/>
                </a:highlight>
                <a:latin typeface="Aptos Narrow"/>
              </a:rPr>
              <a:t>UE10 - Analyse statistiques Base RH</a:t>
            </a:r>
            <a:endParaRPr lang="fr-FR" sz="1800">
              <a:solidFill>
                <a:srgbClr val="156082"/>
              </a:solidFill>
              <a:highlight>
                <a:srgbClr val="FFFFFF"/>
              </a:highlight>
              <a:latin typeface="Aptos Narrow"/>
            </a:endParaRPr>
          </a:p>
          <a:p>
            <a:pPr marL="0" indent="0">
              <a:buNone/>
            </a:pPr>
            <a:r>
              <a:rPr lang="fr-FR" sz="1800" i="1">
                <a:solidFill>
                  <a:srgbClr val="156082"/>
                </a:solidFill>
                <a:highlight>
                  <a:srgbClr val="FFFFFF"/>
                </a:highlight>
                <a:latin typeface="Aptos Narrow"/>
              </a:rPr>
              <a:t>Groupe 9</a:t>
            </a:r>
            <a:endParaRPr lang="fr-FR" sz="1800">
              <a:solidFill>
                <a:srgbClr val="156082"/>
              </a:solidFill>
              <a:highlight>
                <a:srgbClr val="FFFFFF"/>
              </a:highlight>
              <a:latin typeface="Aptos Narrow"/>
            </a:endParaRPr>
          </a:p>
          <a:p>
            <a:pPr marL="0" indent="0">
              <a:buNone/>
            </a:pPr>
            <a:endParaRPr lang="fr-FR">
              <a:solidFill>
                <a:srgbClr val="156082"/>
              </a:solidFill>
            </a:endParaRPr>
          </a:p>
        </p:txBody>
      </p:sp>
      <p:graphicFrame>
        <p:nvGraphicFramePr>
          <p:cNvPr id="5" name="Tableau 4">
            <a:extLst>
              <a:ext uri="{FF2B5EF4-FFF2-40B4-BE49-F238E27FC236}">
                <a16:creationId xmlns:a16="http://schemas.microsoft.com/office/drawing/2014/main" id="{00846811-48F4-3945-010E-F080F3B0F9FB}"/>
              </a:ext>
            </a:extLst>
          </p:cNvPr>
          <p:cNvGraphicFramePr>
            <a:graphicFrameLocks noGrp="1"/>
          </p:cNvGraphicFramePr>
          <p:nvPr>
            <p:extLst>
              <p:ext uri="{D42A27DB-BD31-4B8C-83A1-F6EECF244321}">
                <p14:modId xmlns:p14="http://schemas.microsoft.com/office/powerpoint/2010/main" val="611090567"/>
              </p:ext>
            </p:extLst>
          </p:nvPr>
        </p:nvGraphicFramePr>
        <p:xfrm>
          <a:off x="1348468" y="3549353"/>
          <a:ext cx="2895600" cy="1364935"/>
        </p:xfrm>
        <a:graphic>
          <a:graphicData uri="http://schemas.openxmlformats.org/drawingml/2006/table">
            <a:tbl>
              <a:tblPr bandRow="1">
                <a:tableStyleId>{5C22544A-7EE6-4342-B048-85BDC9FD1C3A}</a:tableStyleId>
              </a:tblPr>
              <a:tblGrid>
                <a:gridCol w="990600">
                  <a:extLst>
                    <a:ext uri="{9D8B030D-6E8A-4147-A177-3AD203B41FA5}">
                      <a16:colId xmlns:a16="http://schemas.microsoft.com/office/drawing/2014/main" val="1306377917"/>
                    </a:ext>
                  </a:extLst>
                </a:gridCol>
                <a:gridCol w="1905000">
                  <a:extLst>
                    <a:ext uri="{9D8B030D-6E8A-4147-A177-3AD203B41FA5}">
                      <a16:colId xmlns:a16="http://schemas.microsoft.com/office/drawing/2014/main" val="154942674"/>
                    </a:ext>
                  </a:extLst>
                </a:gridCol>
              </a:tblGrid>
              <a:tr h="190500">
                <a:tc>
                  <a:txBody>
                    <a:bodyPr/>
                    <a:lstStyle/>
                    <a:p>
                      <a:pPr algn="l" rtl="0" fontAlgn="base">
                        <a:lnSpc>
                          <a:spcPts val="1482"/>
                        </a:lnSpc>
                        <a:buNone/>
                      </a:pPr>
                      <a:r>
                        <a:rPr lang="fr-FR" sz="1100" b="0" i="0">
                          <a:solidFill>
                            <a:schemeClr val="tx1"/>
                          </a:solidFill>
                          <a:effectLst/>
                          <a:latin typeface="Aptos"/>
                        </a:rPr>
                        <a:t>DUCHEMANN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l" rtl="0" fontAlgn="base">
                        <a:lnSpc>
                          <a:spcPts val="1482"/>
                        </a:lnSpc>
                        <a:buNone/>
                      </a:pPr>
                      <a:r>
                        <a:rPr lang="fr-FR" sz="1100" b="0" i="0">
                          <a:solidFill>
                            <a:schemeClr val="tx1"/>
                          </a:solidFill>
                          <a:effectLst/>
                          <a:latin typeface="Aptos"/>
                        </a:rPr>
                        <a:t>Nicolas Pierre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60514582"/>
                  </a:ext>
                </a:extLst>
              </a:tr>
              <a:tr h="190500">
                <a:tc>
                  <a:txBody>
                    <a:bodyPr/>
                    <a:lstStyle/>
                    <a:p>
                      <a:pPr algn="l" rtl="0" fontAlgn="base">
                        <a:lnSpc>
                          <a:spcPts val="1482"/>
                        </a:lnSpc>
                        <a:buNone/>
                      </a:pPr>
                      <a:r>
                        <a:rPr lang="fr-FR" sz="1100" b="0" i="0">
                          <a:solidFill>
                            <a:schemeClr val="tx1"/>
                          </a:solidFill>
                          <a:effectLst/>
                          <a:latin typeface="Aptos"/>
                        </a:rPr>
                        <a:t>KHAYAT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l" rtl="0" fontAlgn="base">
                        <a:lnSpc>
                          <a:spcPts val="1482"/>
                        </a:lnSpc>
                        <a:buNone/>
                      </a:pPr>
                      <a:r>
                        <a:rPr lang="fr-FR" sz="1100" b="0" i="0" err="1">
                          <a:solidFill>
                            <a:schemeClr val="tx1"/>
                          </a:solidFill>
                          <a:effectLst/>
                          <a:latin typeface="Aptos"/>
                        </a:rPr>
                        <a:t>Luminys</a:t>
                      </a:r>
                      <a:r>
                        <a:rPr lang="fr-FR" sz="1100" b="0" i="0">
                          <a:solidFill>
                            <a:schemeClr val="tx1"/>
                          </a:solidFill>
                          <a:effectLst/>
                          <a:latin typeface="Aptos"/>
                        </a:rPr>
                        <a:t>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98019823"/>
                  </a:ext>
                </a:extLst>
              </a:tr>
              <a:tr h="190500">
                <a:tc>
                  <a:txBody>
                    <a:bodyPr/>
                    <a:lstStyle/>
                    <a:p>
                      <a:pPr algn="l" rtl="0" fontAlgn="base">
                        <a:lnSpc>
                          <a:spcPts val="1482"/>
                        </a:lnSpc>
                        <a:buNone/>
                      </a:pPr>
                      <a:r>
                        <a:rPr lang="fr-FR" sz="1100" b="0" i="0">
                          <a:solidFill>
                            <a:schemeClr val="tx1"/>
                          </a:solidFill>
                          <a:effectLst/>
                          <a:latin typeface="Aptos"/>
                        </a:rPr>
                        <a:t>KOUAKOU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l" rtl="0" fontAlgn="base">
                        <a:lnSpc>
                          <a:spcPts val="1482"/>
                        </a:lnSpc>
                        <a:buNone/>
                      </a:pPr>
                      <a:r>
                        <a:rPr lang="fr-FR" sz="1100" b="0" i="0">
                          <a:solidFill>
                            <a:schemeClr val="tx1"/>
                          </a:solidFill>
                          <a:effectLst/>
                          <a:latin typeface="Aptos"/>
                        </a:rPr>
                        <a:t>Oswald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04146978"/>
                  </a:ext>
                </a:extLst>
              </a:tr>
              <a:tr h="190500">
                <a:tc>
                  <a:txBody>
                    <a:bodyPr/>
                    <a:lstStyle/>
                    <a:p>
                      <a:pPr algn="l" rtl="0" fontAlgn="base">
                        <a:lnSpc>
                          <a:spcPts val="1482"/>
                        </a:lnSpc>
                        <a:buNone/>
                      </a:pPr>
                      <a:r>
                        <a:rPr lang="fr-FR" sz="1100" b="0" i="0">
                          <a:solidFill>
                            <a:schemeClr val="tx1"/>
                          </a:solidFill>
                          <a:effectLst/>
                          <a:latin typeface="Aptos"/>
                        </a:rPr>
                        <a:t>CHAUZEIX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l" rtl="0" fontAlgn="base">
                        <a:lnSpc>
                          <a:spcPts val="1482"/>
                        </a:lnSpc>
                        <a:buNone/>
                      </a:pPr>
                      <a:r>
                        <a:rPr lang="fr-FR" sz="1100" b="0" i="0">
                          <a:solidFill>
                            <a:schemeClr val="tx1"/>
                          </a:solidFill>
                          <a:effectLst/>
                          <a:latin typeface="Aptos"/>
                        </a:rPr>
                        <a:t>Sébastien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90780068"/>
                  </a:ext>
                </a:extLst>
              </a:tr>
              <a:tr h="190500">
                <a:tc>
                  <a:txBody>
                    <a:bodyPr/>
                    <a:lstStyle/>
                    <a:p>
                      <a:pPr algn="l" rtl="0" fontAlgn="base">
                        <a:lnSpc>
                          <a:spcPts val="1482"/>
                        </a:lnSpc>
                        <a:buNone/>
                      </a:pPr>
                      <a:r>
                        <a:rPr lang="fr-FR" sz="1100" b="0" i="0">
                          <a:solidFill>
                            <a:schemeClr val="tx1"/>
                          </a:solidFill>
                          <a:effectLst/>
                          <a:latin typeface="Aptos"/>
                        </a:rPr>
                        <a:t>TOUNKARA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l" rtl="0" fontAlgn="base">
                        <a:lnSpc>
                          <a:spcPts val="1482"/>
                        </a:lnSpc>
                        <a:buNone/>
                      </a:pPr>
                      <a:r>
                        <a:rPr lang="fr-FR" sz="1100" b="0" i="0">
                          <a:solidFill>
                            <a:schemeClr val="tx1"/>
                          </a:solidFill>
                          <a:effectLst/>
                          <a:latin typeface="Aptos"/>
                        </a:rPr>
                        <a:t>Ibrahim </a:t>
                      </a:r>
                      <a:endParaRPr lang="fr-FR" b="0" i="0">
                        <a:solidFill>
                          <a:schemeClr val="tx1"/>
                        </a:solidFill>
                        <a:effectLst/>
                        <a:latin typeface="Aptos"/>
                      </a:endParaRPr>
                    </a:p>
                  </a:txBody>
                  <a:tcPr marL="47625" marR="4762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16836976"/>
                  </a:ext>
                </a:extLst>
              </a:tr>
            </a:tbl>
          </a:graphicData>
        </a:graphic>
      </p:graphicFrame>
    </p:spTree>
    <p:extLst>
      <p:ext uri="{BB962C8B-B14F-4D97-AF65-F5344CB8AC3E}">
        <p14:creationId xmlns:p14="http://schemas.microsoft.com/office/powerpoint/2010/main" val="58108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AC6B390-BC59-4F1D-A0EE-D71A92F0A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Freeform: Shape 12">
            <a:extLst>
              <a:ext uri="{FF2B5EF4-FFF2-40B4-BE49-F238E27FC236}">
                <a16:creationId xmlns:a16="http://schemas.microsoft.com/office/drawing/2014/main" id="{B6C60D79-16F1-4C4B-B7E3-7634E706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9137"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Arc 14">
            <a:extLst>
              <a:ext uri="{FF2B5EF4-FFF2-40B4-BE49-F238E27FC236}">
                <a16:creationId xmlns:a16="http://schemas.microsoft.com/office/drawing/2014/main" id="{426B127E-6498-4C77-9C9D-4553A5113B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2050" y="65016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907665E3-DB2E-7C66-F159-4313A0FBF061}"/>
              </a:ext>
            </a:extLst>
          </p:cNvPr>
          <p:cNvSpPr>
            <a:spLocks noGrp="1"/>
          </p:cNvSpPr>
          <p:nvPr>
            <p:ph type="title"/>
          </p:nvPr>
        </p:nvSpPr>
        <p:spPr>
          <a:xfrm>
            <a:off x="838201" y="479493"/>
            <a:ext cx="5257800" cy="1325563"/>
          </a:xfrm>
        </p:spPr>
        <p:txBody>
          <a:bodyPr vert="horz" lIns="91440" tIns="45720" rIns="91440" bIns="45720" rtlCol="0" anchor="ctr">
            <a:normAutofit/>
          </a:bodyPr>
          <a:lstStyle/>
          <a:p>
            <a:r>
              <a:rPr lang="en-US" sz="3100" b="1" kern="1200">
                <a:solidFill>
                  <a:schemeClr val="tx1"/>
                </a:solidFill>
                <a:highlight>
                  <a:srgbClr val="FFFFFF"/>
                </a:highlight>
                <a:latin typeface="+mj-lt"/>
                <a:ea typeface="+mj-ea"/>
                <a:cs typeface="+mj-cs"/>
              </a:rPr>
              <a:t>Structure générale du dataset</a:t>
            </a:r>
          </a:p>
        </p:txBody>
      </p:sp>
      <p:sp>
        <p:nvSpPr>
          <p:cNvPr id="4" name="ZoneTexte 3">
            <a:extLst>
              <a:ext uri="{FF2B5EF4-FFF2-40B4-BE49-F238E27FC236}">
                <a16:creationId xmlns:a16="http://schemas.microsoft.com/office/drawing/2014/main" id="{40A6809A-8D32-89B2-781C-37566F053719}"/>
              </a:ext>
            </a:extLst>
          </p:cNvPr>
          <p:cNvSpPr txBox="1"/>
          <p:nvPr/>
        </p:nvSpPr>
        <p:spPr>
          <a:xfrm>
            <a:off x="838201" y="1984443"/>
            <a:ext cx="5257800" cy="419252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100" b="1" u="sng" err="1">
                <a:highlight>
                  <a:srgbClr val="FFFFFF"/>
                </a:highlight>
              </a:rPr>
              <a:t>Interprétation</a:t>
            </a:r>
            <a:r>
              <a:rPr lang="en-US" sz="1100" b="1" u="sng">
                <a:highlight>
                  <a:srgbClr val="FFFFFF"/>
                </a:highlight>
              </a:rPr>
              <a:t> : </a:t>
            </a:r>
            <a:endParaRPr lang="en-US" sz="1100">
              <a:highlight>
                <a:srgbClr val="FFFFFF"/>
              </a:highlight>
            </a:endParaRPr>
          </a:p>
          <a:p>
            <a:pPr marL="285750" indent="-228600">
              <a:lnSpc>
                <a:spcPct val="90000"/>
              </a:lnSpc>
              <a:spcAft>
                <a:spcPts val="600"/>
              </a:spcAft>
              <a:buFont typeface="Arial" panose="020B0604020202020204" pitchFamily="34" charset="0"/>
              <a:buChar char="•"/>
            </a:pPr>
            <a:r>
              <a:rPr lang="en-US" sz="1100">
                <a:highlight>
                  <a:srgbClr val="FFFFFF"/>
                </a:highlight>
              </a:rPr>
              <a:t>Le fichier contient 556 lignes (observations) et 12 colonnes (variables). </a:t>
            </a:r>
          </a:p>
          <a:p>
            <a:pPr marL="285750" indent="-228600">
              <a:lnSpc>
                <a:spcPct val="90000"/>
              </a:lnSpc>
              <a:spcAft>
                <a:spcPts val="600"/>
              </a:spcAft>
              <a:buFont typeface="Arial" panose="020B0604020202020204" pitchFamily="34" charset="0"/>
              <a:buChar char="•"/>
            </a:pPr>
            <a:r>
              <a:rPr lang="en-US" sz="1100">
                <a:highlight>
                  <a:srgbClr val="FFFFFF"/>
                </a:highlight>
              </a:rPr>
              <a:t>Variables </a:t>
            </a:r>
          </a:p>
          <a:p>
            <a:pPr marL="742950" lvl="1" indent="-228600">
              <a:lnSpc>
                <a:spcPct val="90000"/>
              </a:lnSpc>
              <a:spcAft>
                <a:spcPts val="600"/>
              </a:spcAft>
              <a:buFont typeface="Arial" panose="020B0604020202020204" pitchFamily="34" charset="0"/>
              <a:buChar char="•"/>
            </a:pPr>
            <a:r>
              <a:rPr lang="en-US" sz="1100">
                <a:highlight>
                  <a:srgbClr val="FFFFFF"/>
                </a:highlight>
              </a:rPr>
              <a:t>Qualitatives (</a:t>
            </a:r>
            <a:r>
              <a:rPr lang="en-US" sz="1100" err="1">
                <a:highlight>
                  <a:srgbClr val="FFFFFF"/>
                </a:highlight>
              </a:rPr>
              <a:t>chr</a:t>
            </a:r>
            <a:r>
              <a:rPr lang="en-US" sz="1100">
                <a:highlight>
                  <a:srgbClr val="FFFFFF"/>
                </a:highlight>
              </a:rPr>
              <a:t>) : Contrat, Genre, Manager. </a:t>
            </a:r>
          </a:p>
          <a:p>
            <a:pPr marL="742950" lvl="1" indent="-228600">
              <a:lnSpc>
                <a:spcPct val="90000"/>
              </a:lnSpc>
              <a:spcAft>
                <a:spcPts val="600"/>
              </a:spcAft>
              <a:buFont typeface="Arial" panose="020B0604020202020204" pitchFamily="34" charset="0"/>
              <a:buChar char="•"/>
            </a:pPr>
            <a:r>
              <a:rPr lang="en-US" sz="1100">
                <a:highlight>
                  <a:srgbClr val="FFFFFF"/>
                </a:highlight>
              </a:rPr>
              <a:t>Quantitatives (</a:t>
            </a:r>
            <a:r>
              <a:rPr lang="en-US" sz="1100" err="1">
                <a:highlight>
                  <a:srgbClr val="FFFFFF"/>
                </a:highlight>
              </a:rPr>
              <a:t>num</a:t>
            </a:r>
            <a:r>
              <a:rPr lang="en-US" sz="1100">
                <a:highlight>
                  <a:srgbClr val="FFFFFF"/>
                </a:highlight>
              </a:rPr>
              <a:t>) : Tout le reste. On note que certaines sont discrètes comme le Niveau </a:t>
            </a:r>
            <a:r>
              <a:rPr lang="en-US" sz="1100" err="1">
                <a:highlight>
                  <a:srgbClr val="FFFFFF"/>
                </a:highlight>
              </a:rPr>
              <a:t>hierarchique</a:t>
            </a:r>
            <a:r>
              <a:rPr lang="en-US" sz="1100">
                <a:highlight>
                  <a:srgbClr val="FFFFFF"/>
                </a:highlight>
              </a:rPr>
              <a:t> qui ne prend que des chiffres entiers de 1 à 7 et d'autres continues (comme Salaire ou Taux de temps de travail).</a:t>
            </a:r>
          </a:p>
          <a:p>
            <a:pPr lvl="1" indent="-228600">
              <a:lnSpc>
                <a:spcPct val="90000"/>
              </a:lnSpc>
              <a:spcAft>
                <a:spcPts val="600"/>
              </a:spcAft>
              <a:buFont typeface="Arial" panose="020B0604020202020204" pitchFamily="34" charset="0"/>
              <a:buChar char="•"/>
            </a:pPr>
            <a:r>
              <a:rPr lang="en-US" sz="1100">
                <a:highlight>
                  <a:srgbClr val="FFFFFF"/>
                </a:highlight>
              </a:rPr>
              <a:t>Ci-dessous le tableau </a:t>
            </a:r>
            <a:r>
              <a:rPr lang="en-US" sz="1100" err="1">
                <a:highlight>
                  <a:srgbClr val="FFFFFF"/>
                </a:highlight>
              </a:rPr>
              <a:t>détaillé</a:t>
            </a:r>
          </a:p>
          <a:p>
            <a:pPr marL="285750" indent="-228600">
              <a:lnSpc>
                <a:spcPct val="90000"/>
              </a:lnSpc>
              <a:spcAft>
                <a:spcPts val="600"/>
              </a:spcAft>
              <a:buFont typeface="Arial" panose="020B0604020202020204" pitchFamily="34" charset="0"/>
              <a:buChar char="•"/>
            </a:pPr>
            <a:r>
              <a:rPr lang="en-US" sz="1100">
                <a:highlight>
                  <a:srgbClr val="FFFFFF"/>
                </a:highlight>
              </a:rPr>
              <a:t>Il y a 4 </a:t>
            </a:r>
            <a:r>
              <a:rPr lang="en-US" sz="1100" err="1">
                <a:highlight>
                  <a:srgbClr val="FFFFFF"/>
                </a:highlight>
              </a:rPr>
              <a:t>valeurs</a:t>
            </a:r>
            <a:r>
              <a:rPr lang="en-US" sz="1100">
                <a:highlight>
                  <a:srgbClr val="FFFFFF"/>
                </a:highlight>
              </a:rPr>
              <a:t> </a:t>
            </a:r>
            <a:r>
              <a:rPr lang="en-US" sz="1100" err="1">
                <a:highlight>
                  <a:srgbClr val="FFFFFF"/>
                </a:highlight>
              </a:rPr>
              <a:t>manquantes</a:t>
            </a:r>
            <a:r>
              <a:rPr lang="en-US" sz="1100">
                <a:highlight>
                  <a:srgbClr val="FFFFFF"/>
                </a:highlight>
              </a:rPr>
              <a:t> (NA) dans la </a:t>
            </a:r>
            <a:r>
              <a:rPr lang="en-US" sz="1100" err="1">
                <a:highlight>
                  <a:srgbClr val="FFFFFF"/>
                </a:highlight>
              </a:rPr>
              <a:t>colonne</a:t>
            </a:r>
            <a:r>
              <a:rPr lang="en-US" sz="1100">
                <a:highlight>
                  <a:srgbClr val="FFFFFF"/>
                </a:highlight>
              </a:rPr>
              <a:t> </a:t>
            </a:r>
            <a:r>
              <a:rPr lang="en-US" sz="1100" err="1">
                <a:highlight>
                  <a:srgbClr val="FFFFFF"/>
                </a:highlight>
              </a:rPr>
              <a:t>Salaire</a:t>
            </a:r>
            <a:r>
              <a:rPr lang="en-US" sz="1100">
                <a:highlight>
                  <a:srgbClr val="FFFFFF"/>
                </a:highlight>
              </a:rPr>
              <a:t>.</a:t>
            </a:r>
          </a:p>
          <a:p>
            <a:pPr marL="285750" indent="-228600">
              <a:lnSpc>
                <a:spcPct val="90000"/>
              </a:lnSpc>
              <a:spcAft>
                <a:spcPts val="600"/>
              </a:spcAft>
              <a:buFont typeface="Arial" panose="020B0604020202020204" pitchFamily="34" charset="0"/>
              <a:buChar char="•"/>
            </a:pPr>
            <a:r>
              <a:rPr lang="en-US" sz="1100">
                <a:highlight>
                  <a:srgbClr val="FFFFFF"/>
                </a:highlight>
              </a:rPr>
              <a:t>Le maximum de </a:t>
            </a:r>
            <a:r>
              <a:rPr lang="en-US" sz="1100" err="1">
                <a:highlight>
                  <a:srgbClr val="FFFFFF"/>
                </a:highlight>
              </a:rPr>
              <a:t>l'Identifiant</a:t>
            </a:r>
            <a:r>
              <a:rPr lang="en-US" sz="1100">
                <a:highlight>
                  <a:srgbClr val="FFFFFF"/>
                </a:highlight>
              </a:rPr>
              <a:t> est 571, </a:t>
            </a:r>
            <a:r>
              <a:rPr lang="en-US" sz="1100" err="1">
                <a:highlight>
                  <a:srgbClr val="FFFFFF"/>
                </a:highlight>
              </a:rPr>
              <a:t>alors</a:t>
            </a:r>
            <a:r>
              <a:rPr lang="en-US" sz="1100">
                <a:highlight>
                  <a:srgbClr val="FFFFFF"/>
                </a:highlight>
              </a:rPr>
              <a:t> </a:t>
            </a:r>
            <a:r>
              <a:rPr lang="en-US" sz="1100" err="1">
                <a:highlight>
                  <a:srgbClr val="FFFFFF"/>
                </a:highlight>
              </a:rPr>
              <a:t>qu'il</a:t>
            </a:r>
            <a:r>
              <a:rPr lang="en-US" sz="1100">
                <a:highlight>
                  <a:srgbClr val="FFFFFF"/>
                </a:highlight>
              </a:rPr>
              <a:t> </a:t>
            </a:r>
            <a:r>
              <a:rPr lang="en-US" sz="1100" err="1">
                <a:highlight>
                  <a:srgbClr val="FFFFFF"/>
                </a:highlight>
              </a:rPr>
              <a:t>n'y</a:t>
            </a:r>
            <a:r>
              <a:rPr lang="en-US" sz="1100">
                <a:highlight>
                  <a:srgbClr val="FFFFFF"/>
                </a:highlight>
              </a:rPr>
              <a:t> a </a:t>
            </a:r>
            <a:r>
              <a:rPr lang="en-US" sz="1100" err="1">
                <a:highlight>
                  <a:srgbClr val="FFFFFF"/>
                </a:highlight>
              </a:rPr>
              <a:t>que</a:t>
            </a:r>
            <a:r>
              <a:rPr lang="en-US" sz="1100">
                <a:highlight>
                  <a:srgbClr val="FFFFFF"/>
                </a:highlight>
              </a:rPr>
              <a:t> 556 </a:t>
            </a:r>
            <a:r>
              <a:rPr lang="en-US" sz="1100" err="1">
                <a:highlight>
                  <a:srgbClr val="FFFFFF"/>
                </a:highlight>
              </a:rPr>
              <a:t>lignes</a:t>
            </a:r>
            <a:r>
              <a:rPr lang="en-US" sz="1100">
                <a:highlight>
                  <a:srgbClr val="FFFFFF"/>
                </a:highlight>
              </a:rPr>
              <a:t>. Il est possible </a:t>
            </a:r>
            <a:r>
              <a:rPr lang="en-US" sz="1100" err="1">
                <a:highlight>
                  <a:srgbClr val="FFFFFF"/>
                </a:highlight>
              </a:rPr>
              <a:t>que</a:t>
            </a:r>
            <a:r>
              <a:rPr lang="en-US" sz="1100">
                <a:highlight>
                  <a:srgbClr val="FFFFFF"/>
                </a:highlight>
              </a:rPr>
              <a:t> 15 </a:t>
            </a:r>
            <a:r>
              <a:rPr lang="en-US" sz="1100" err="1">
                <a:highlight>
                  <a:srgbClr val="FFFFFF"/>
                </a:highlight>
              </a:rPr>
              <a:t>individus</a:t>
            </a:r>
            <a:r>
              <a:rPr lang="en-US" sz="1100">
                <a:highlight>
                  <a:srgbClr val="FFFFFF"/>
                </a:highlight>
              </a:rPr>
              <a:t> </a:t>
            </a:r>
            <a:r>
              <a:rPr lang="en-US" sz="1100" err="1">
                <a:highlight>
                  <a:srgbClr val="FFFFFF"/>
                </a:highlight>
              </a:rPr>
              <a:t>aient</a:t>
            </a:r>
            <a:r>
              <a:rPr lang="en-US" sz="1100">
                <a:highlight>
                  <a:srgbClr val="FFFFFF"/>
                </a:highlight>
              </a:rPr>
              <a:t> </a:t>
            </a:r>
            <a:r>
              <a:rPr lang="en-US" sz="1100" err="1">
                <a:highlight>
                  <a:srgbClr val="FFFFFF"/>
                </a:highlight>
              </a:rPr>
              <a:t>été</a:t>
            </a:r>
            <a:r>
              <a:rPr lang="en-US" sz="1100">
                <a:highlight>
                  <a:srgbClr val="FFFFFF"/>
                </a:highlight>
              </a:rPr>
              <a:t> </a:t>
            </a:r>
            <a:r>
              <a:rPr lang="en-US" sz="1100" err="1">
                <a:highlight>
                  <a:srgbClr val="FFFFFF"/>
                </a:highlight>
              </a:rPr>
              <a:t>supprimés</a:t>
            </a:r>
            <a:r>
              <a:rPr lang="en-US" sz="1100">
                <a:highlight>
                  <a:srgbClr val="FFFFFF"/>
                </a:highlight>
              </a:rPr>
              <a:t> de la base de données </a:t>
            </a:r>
            <a:r>
              <a:rPr lang="en-US" sz="1100" err="1">
                <a:highlight>
                  <a:srgbClr val="FFFFFF"/>
                </a:highlight>
              </a:rPr>
              <a:t>originale</a:t>
            </a:r>
            <a:r>
              <a:rPr lang="en-US" sz="1100">
                <a:highlight>
                  <a:srgbClr val="FFFFFF"/>
                </a:highlight>
              </a:rPr>
              <a:t>.</a:t>
            </a:r>
          </a:p>
          <a:p>
            <a:pPr marL="285750" indent="-228600">
              <a:lnSpc>
                <a:spcPct val="90000"/>
              </a:lnSpc>
              <a:spcAft>
                <a:spcPts val="600"/>
              </a:spcAft>
              <a:buFont typeface="Arial" panose="020B0604020202020204" pitchFamily="34" charset="0"/>
              <a:buChar char="•"/>
            </a:pPr>
            <a:r>
              <a:rPr lang="en-US" sz="1100">
                <a:highlight>
                  <a:srgbClr val="FFFFFF"/>
                </a:highlight>
              </a:rPr>
              <a:t>Une </a:t>
            </a:r>
            <a:r>
              <a:rPr lang="en-US" sz="1100" err="1">
                <a:highlight>
                  <a:srgbClr val="FFFFFF"/>
                </a:highlight>
              </a:rPr>
              <a:t>analyse</a:t>
            </a:r>
            <a:r>
              <a:rPr lang="en-US" sz="1100">
                <a:highlight>
                  <a:srgbClr val="FFFFFF"/>
                </a:highlight>
              </a:rPr>
              <a:t> sur les axes </a:t>
            </a:r>
            <a:r>
              <a:rPr lang="en-US" sz="1100" err="1">
                <a:highlight>
                  <a:srgbClr val="FFFFFF"/>
                </a:highlight>
              </a:rPr>
              <a:t>suivants</a:t>
            </a:r>
            <a:r>
              <a:rPr lang="en-US" sz="1100">
                <a:highlight>
                  <a:srgbClr val="FFFFFF"/>
                </a:highlight>
              </a:rPr>
              <a:t> </a:t>
            </a:r>
            <a:r>
              <a:rPr lang="en-US" sz="1100" err="1">
                <a:highlight>
                  <a:srgbClr val="FFFFFF"/>
                </a:highlight>
              </a:rPr>
              <a:t>serait</a:t>
            </a:r>
            <a:r>
              <a:rPr lang="en-US" sz="1100">
                <a:highlight>
                  <a:srgbClr val="FFFFFF"/>
                </a:highlight>
              </a:rPr>
              <a:t> possible :</a:t>
            </a:r>
          </a:p>
          <a:p>
            <a:pPr marL="742950" lvl="1" indent="-228600">
              <a:lnSpc>
                <a:spcPct val="90000"/>
              </a:lnSpc>
              <a:spcAft>
                <a:spcPts val="600"/>
              </a:spcAft>
              <a:buFont typeface="Arial" panose="020B0604020202020204" pitchFamily="34" charset="0"/>
              <a:buChar char="•"/>
            </a:pPr>
            <a:r>
              <a:rPr lang="en-US" sz="1100" err="1">
                <a:highlight>
                  <a:srgbClr val="FFFFFF"/>
                </a:highlight>
              </a:rPr>
              <a:t>Profil</a:t>
            </a:r>
            <a:r>
              <a:rPr lang="en-US" sz="1100">
                <a:highlight>
                  <a:srgbClr val="FFFFFF"/>
                </a:highlight>
              </a:rPr>
              <a:t> </a:t>
            </a:r>
            <a:r>
              <a:rPr lang="en-US" sz="1100" err="1">
                <a:highlight>
                  <a:srgbClr val="FFFFFF"/>
                </a:highlight>
              </a:rPr>
              <a:t>démographique</a:t>
            </a:r>
            <a:r>
              <a:rPr lang="en-US" sz="1100">
                <a:highlight>
                  <a:srgbClr val="FFFFFF"/>
                </a:highlight>
              </a:rPr>
              <a:t> : </a:t>
            </a:r>
            <a:r>
              <a:rPr lang="en-US" sz="1100" err="1">
                <a:highlight>
                  <a:srgbClr val="FFFFFF"/>
                </a:highlight>
              </a:rPr>
              <a:t>Âge</a:t>
            </a:r>
            <a:r>
              <a:rPr lang="en-US" sz="1100">
                <a:highlight>
                  <a:srgbClr val="FFFFFF"/>
                </a:highlight>
              </a:rPr>
              <a:t>, Genre.</a:t>
            </a:r>
          </a:p>
          <a:p>
            <a:pPr marL="742950" lvl="1" indent="-228600">
              <a:lnSpc>
                <a:spcPct val="90000"/>
              </a:lnSpc>
              <a:spcAft>
                <a:spcPts val="600"/>
              </a:spcAft>
              <a:buFont typeface="Arial" panose="020B0604020202020204" pitchFamily="34" charset="0"/>
              <a:buChar char="•"/>
            </a:pPr>
            <a:r>
              <a:rPr lang="en-US" sz="1100" err="1">
                <a:highlight>
                  <a:srgbClr val="FFFFFF"/>
                </a:highlight>
              </a:rPr>
              <a:t>Profil</a:t>
            </a:r>
            <a:r>
              <a:rPr lang="en-US" sz="1100">
                <a:highlight>
                  <a:srgbClr val="FFFFFF"/>
                </a:highlight>
              </a:rPr>
              <a:t> </a:t>
            </a:r>
            <a:r>
              <a:rPr lang="en-US" sz="1100" err="1">
                <a:highlight>
                  <a:srgbClr val="FFFFFF"/>
                </a:highlight>
              </a:rPr>
              <a:t>contractuel</a:t>
            </a:r>
            <a:r>
              <a:rPr lang="en-US" sz="1100">
                <a:highlight>
                  <a:srgbClr val="FFFFFF"/>
                </a:highlight>
              </a:rPr>
              <a:t> : Type de </a:t>
            </a:r>
            <a:r>
              <a:rPr lang="en-US" sz="1100" err="1">
                <a:highlight>
                  <a:srgbClr val="FFFFFF"/>
                </a:highlight>
              </a:rPr>
              <a:t>contrat</a:t>
            </a:r>
            <a:r>
              <a:rPr lang="en-US" sz="1100">
                <a:highlight>
                  <a:srgbClr val="FFFFFF"/>
                </a:highlight>
              </a:rPr>
              <a:t>, Temps de travail, </a:t>
            </a:r>
            <a:r>
              <a:rPr lang="en-US" sz="1100" err="1">
                <a:highlight>
                  <a:srgbClr val="FFFFFF"/>
                </a:highlight>
              </a:rPr>
              <a:t>Ancienneté</a:t>
            </a:r>
            <a:r>
              <a:rPr lang="en-US" sz="1100">
                <a:highlight>
                  <a:srgbClr val="FFFFFF"/>
                </a:highlight>
              </a:rPr>
              <a:t>, </a:t>
            </a:r>
            <a:r>
              <a:rPr lang="en-US" sz="1100" err="1">
                <a:highlight>
                  <a:srgbClr val="FFFFFF"/>
                </a:highlight>
              </a:rPr>
              <a:t>Niveau</a:t>
            </a:r>
            <a:r>
              <a:rPr lang="en-US" sz="1100">
                <a:highlight>
                  <a:srgbClr val="FFFFFF"/>
                </a:highlight>
              </a:rPr>
              <a:t>.</a:t>
            </a:r>
          </a:p>
          <a:p>
            <a:pPr marL="742950" lvl="1" indent="-228600">
              <a:lnSpc>
                <a:spcPct val="90000"/>
              </a:lnSpc>
              <a:spcAft>
                <a:spcPts val="600"/>
              </a:spcAft>
              <a:buFont typeface="Arial" panose="020B0604020202020204" pitchFamily="34" charset="0"/>
              <a:buChar char="•"/>
            </a:pPr>
            <a:r>
              <a:rPr lang="en-US" sz="1100" err="1">
                <a:highlight>
                  <a:srgbClr val="FFFFFF"/>
                </a:highlight>
              </a:rPr>
              <a:t>Profil</a:t>
            </a:r>
            <a:r>
              <a:rPr lang="en-US" sz="1100">
                <a:highlight>
                  <a:srgbClr val="FFFFFF"/>
                </a:highlight>
              </a:rPr>
              <a:t> financier : </a:t>
            </a:r>
            <a:r>
              <a:rPr lang="en-US" sz="1100" err="1">
                <a:highlight>
                  <a:srgbClr val="FFFFFF"/>
                </a:highlight>
              </a:rPr>
              <a:t>Salaire</a:t>
            </a:r>
            <a:r>
              <a:rPr lang="en-US" sz="1100">
                <a:highlight>
                  <a:srgbClr val="FFFFFF"/>
                </a:highlight>
              </a:rPr>
              <a:t> fixe, part variable </a:t>
            </a:r>
            <a:r>
              <a:rPr lang="en-US" sz="1100" err="1">
                <a:highlight>
                  <a:srgbClr val="FFFFFF"/>
                </a:highlight>
              </a:rPr>
              <a:t>managériale</a:t>
            </a:r>
            <a:r>
              <a:rPr lang="en-US" sz="1100">
                <a:highlight>
                  <a:srgbClr val="FFFFFF"/>
                </a:highlight>
              </a:rPr>
              <a:t> &amp; </a:t>
            </a:r>
            <a:r>
              <a:rPr lang="en-US" sz="1100" err="1">
                <a:highlight>
                  <a:srgbClr val="FFFFFF"/>
                </a:highlight>
              </a:rPr>
              <a:t>commerciale</a:t>
            </a:r>
            <a:r>
              <a:rPr lang="en-US" sz="1100">
                <a:highlight>
                  <a:srgbClr val="FFFFFF"/>
                </a:highlight>
              </a:rPr>
              <a:t>, </a:t>
            </a:r>
            <a:r>
              <a:rPr lang="en-US" sz="1100" err="1">
                <a:highlight>
                  <a:srgbClr val="FFFFFF"/>
                </a:highlight>
              </a:rPr>
              <a:t>heures</a:t>
            </a:r>
            <a:r>
              <a:rPr lang="en-US" sz="1100">
                <a:highlight>
                  <a:srgbClr val="FFFFFF"/>
                </a:highlight>
              </a:rPr>
              <a:t> </a:t>
            </a:r>
            <a:r>
              <a:rPr lang="en-US" sz="1100" err="1">
                <a:highlight>
                  <a:srgbClr val="FFFFFF"/>
                </a:highlight>
              </a:rPr>
              <a:t>supplémentaires</a:t>
            </a:r>
            <a:r>
              <a:rPr lang="en-US" sz="1100">
                <a:highlight>
                  <a:srgbClr val="FFFFFF"/>
                </a:highlight>
              </a:rPr>
              <a:t>.</a:t>
            </a:r>
          </a:p>
          <a:p>
            <a:pPr marL="57150">
              <a:lnSpc>
                <a:spcPct val="90000"/>
              </a:lnSpc>
              <a:spcAft>
                <a:spcPts val="600"/>
              </a:spcAft>
            </a:pPr>
            <a:r>
              <a:rPr lang="en-US" sz="1100" i="1">
                <a:highlight>
                  <a:srgbClr val="FFFFFF"/>
                </a:highlight>
              </a:rPr>
              <a:t>*Les variables </a:t>
            </a:r>
            <a:r>
              <a:rPr lang="en-US" sz="1100" i="1" err="1">
                <a:highlight>
                  <a:srgbClr val="FFFFFF"/>
                </a:highlight>
              </a:rPr>
              <a:t>identifiant</a:t>
            </a:r>
            <a:r>
              <a:rPr lang="en-US" sz="1100" i="1">
                <a:highlight>
                  <a:srgbClr val="FFFFFF"/>
                </a:highlight>
              </a:rPr>
              <a:t>, </a:t>
            </a:r>
            <a:r>
              <a:rPr lang="en-US" sz="1100" i="1" err="1">
                <a:highlight>
                  <a:srgbClr val="FFFFFF"/>
                </a:highlight>
              </a:rPr>
              <a:t>niveau</a:t>
            </a:r>
            <a:r>
              <a:rPr lang="en-US" sz="1100" i="1">
                <a:highlight>
                  <a:srgbClr val="FFFFFF"/>
                </a:highlight>
              </a:rPr>
              <a:t> </a:t>
            </a:r>
            <a:r>
              <a:rPr lang="en-US" sz="1100" i="1" err="1">
                <a:highlight>
                  <a:srgbClr val="FFFFFF"/>
                </a:highlight>
              </a:rPr>
              <a:t>hiérarchique</a:t>
            </a:r>
            <a:r>
              <a:rPr lang="en-US" sz="1100" i="1">
                <a:highlight>
                  <a:srgbClr val="FFFFFF"/>
                </a:highlight>
              </a:rPr>
              <a:t> </a:t>
            </a:r>
            <a:r>
              <a:rPr lang="en-US" sz="1100" i="1" err="1">
                <a:highlight>
                  <a:srgbClr val="FFFFFF"/>
                </a:highlight>
              </a:rPr>
              <a:t>peuvent</a:t>
            </a:r>
            <a:r>
              <a:rPr lang="en-US" sz="1100" i="1">
                <a:highlight>
                  <a:srgbClr val="FFFFFF"/>
                </a:highlight>
              </a:rPr>
              <a:t> </a:t>
            </a:r>
            <a:r>
              <a:rPr lang="en-US" sz="1100" i="1" err="1">
                <a:highlight>
                  <a:srgbClr val="FFFFFF"/>
                </a:highlight>
              </a:rPr>
              <a:t>être</a:t>
            </a:r>
            <a:r>
              <a:rPr lang="en-US" sz="1100" i="1">
                <a:highlight>
                  <a:srgbClr val="FFFFFF"/>
                </a:highlight>
              </a:rPr>
              <a:t> </a:t>
            </a:r>
            <a:r>
              <a:rPr lang="en-US" sz="1100" i="1" err="1">
                <a:highlight>
                  <a:srgbClr val="FFFFFF"/>
                </a:highlight>
              </a:rPr>
              <a:t>considérées</a:t>
            </a:r>
            <a:r>
              <a:rPr lang="en-US" sz="1100" i="1">
                <a:highlight>
                  <a:srgbClr val="FFFFFF"/>
                </a:highlight>
              </a:rPr>
              <a:t> </a:t>
            </a:r>
            <a:r>
              <a:rPr lang="en-US" sz="1100" i="1" err="1">
                <a:highlight>
                  <a:srgbClr val="FFFFFF"/>
                </a:highlight>
              </a:rPr>
              <a:t>comme</a:t>
            </a:r>
            <a:r>
              <a:rPr lang="en-US" sz="1100" i="1">
                <a:highlight>
                  <a:srgbClr val="FFFFFF"/>
                </a:highlight>
              </a:rPr>
              <a:t> des </a:t>
            </a:r>
            <a:r>
              <a:rPr lang="en-US" sz="1100" i="1" err="1">
                <a:highlight>
                  <a:srgbClr val="FFFFFF"/>
                </a:highlight>
              </a:rPr>
              <a:t>catégories</a:t>
            </a:r>
            <a:r>
              <a:rPr lang="en-US" sz="1100" i="1">
                <a:highlight>
                  <a:srgbClr val="FFFFFF"/>
                </a:highlight>
              </a:rPr>
              <a:t> et </a:t>
            </a:r>
            <a:r>
              <a:rPr lang="en-US" sz="1100" i="1" err="1">
                <a:highlight>
                  <a:srgbClr val="FFFFFF"/>
                </a:highlight>
              </a:rPr>
              <a:t>donc</a:t>
            </a:r>
            <a:r>
              <a:rPr lang="en-US" sz="1100" i="1">
                <a:highlight>
                  <a:srgbClr val="FFFFFF"/>
                </a:highlight>
              </a:rPr>
              <a:t> </a:t>
            </a:r>
            <a:r>
              <a:rPr lang="en-US" sz="1100" i="1" err="1">
                <a:highlight>
                  <a:srgbClr val="FFFFFF"/>
                </a:highlight>
              </a:rPr>
              <a:t>traitée</a:t>
            </a:r>
            <a:r>
              <a:rPr lang="en-US" sz="1100" i="1">
                <a:highlight>
                  <a:srgbClr val="FFFFFF"/>
                </a:highlight>
              </a:rPr>
              <a:t> </a:t>
            </a:r>
            <a:r>
              <a:rPr lang="en-US" sz="1100" i="1" err="1">
                <a:highlight>
                  <a:srgbClr val="FFFFFF"/>
                </a:highlight>
              </a:rPr>
              <a:t>comme</a:t>
            </a:r>
            <a:r>
              <a:rPr lang="en-US" sz="1100" i="1">
                <a:highlight>
                  <a:srgbClr val="FFFFFF"/>
                </a:highlight>
              </a:rPr>
              <a:t> des variables </a:t>
            </a:r>
            <a:r>
              <a:rPr lang="en-US" sz="1100" i="1" err="1">
                <a:highlight>
                  <a:srgbClr val="FFFFFF"/>
                </a:highlight>
              </a:rPr>
              <a:t>qualitatives</a:t>
            </a:r>
            <a:endParaRPr lang="en-US" sz="1100" i="1">
              <a:highlight>
                <a:srgbClr val="FFFFFF"/>
              </a:highlight>
            </a:endParaRPr>
          </a:p>
          <a:p>
            <a:pPr lvl="1" indent="-228600">
              <a:lnSpc>
                <a:spcPct val="90000"/>
              </a:lnSpc>
              <a:spcAft>
                <a:spcPts val="600"/>
              </a:spcAft>
              <a:buFont typeface="Arial" panose="020B0604020202020204" pitchFamily="34" charset="0"/>
              <a:buChar char="•"/>
            </a:pPr>
            <a:endParaRPr lang="en-US" sz="1100">
              <a:highlight>
                <a:srgbClr val="FFFFFF"/>
              </a:highlight>
            </a:endParaRPr>
          </a:p>
          <a:p>
            <a:pPr indent="-228600">
              <a:lnSpc>
                <a:spcPct val="90000"/>
              </a:lnSpc>
              <a:spcAft>
                <a:spcPts val="600"/>
              </a:spcAft>
              <a:buFont typeface="Arial" panose="020B0604020202020204" pitchFamily="34" charset="0"/>
              <a:buChar char="•"/>
            </a:pPr>
            <a:endParaRPr lang="en-US" sz="1100"/>
          </a:p>
        </p:txBody>
      </p:sp>
      <p:graphicFrame>
        <p:nvGraphicFramePr>
          <p:cNvPr id="6" name="Tableau 5">
            <a:extLst>
              <a:ext uri="{FF2B5EF4-FFF2-40B4-BE49-F238E27FC236}">
                <a16:creationId xmlns:a16="http://schemas.microsoft.com/office/drawing/2014/main" id="{45A64045-D771-1642-6A49-0274A83F2A8B}"/>
              </a:ext>
            </a:extLst>
          </p:cNvPr>
          <p:cNvGraphicFramePr>
            <a:graphicFrameLocks noGrp="1"/>
          </p:cNvGraphicFramePr>
          <p:nvPr>
            <p:extLst>
              <p:ext uri="{D42A27DB-BD31-4B8C-83A1-F6EECF244321}">
                <p14:modId xmlns:p14="http://schemas.microsoft.com/office/powerpoint/2010/main" val="3641935710"/>
              </p:ext>
            </p:extLst>
          </p:nvPr>
        </p:nvGraphicFramePr>
        <p:xfrm>
          <a:off x="6818571" y="520749"/>
          <a:ext cx="4222346" cy="5643799"/>
        </p:xfrm>
        <a:graphic>
          <a:graphicData uri="http://schemas.openxmlformats.org/drawingml/2006/table">
            <a:tbl>
              <a:tblPr firstRow="1" bandRow="1">
                <a:tableStyleId>{8799B23B-EC83-4686-B30A-512413B5E67A}</a:tableStyleId>
              </a:tblPr>
              <a:tblGrid>
                <a:gridCol w="1619827">
                  <a:extLst>
                    <a:ext uri="{9D8B030D-6E8A-4147-A177-3AD203B41FA5}">
                      <a16:colId xmlns:a16="http://schemas.microsoft.com/office/drawing/2014/main" val="4115372820"/>
                    </a:ext>
                  </a:extLst>
                </a:gridCol>
                <a:gridCol w="1548217">
                  <a:extLst>
                    <a:ext uri="{9D8B030D-6E8A-4147-A177-3AD203B41FA5}">
                      <a16:colId xmlns:a16="http://schemas.microsoft.com/office/drawing/2014/main" val="3918932866"/>
                    </a:ext>
                  </a:extLst>
                </a:gridCol>
                <a:gridCol w="1054302">
                  <a:extLst>
                    <a:ext uri="{9D8B030D-6E8A-4147-A177-3AD203B41FA5}">
                      <a16:colId xmlns:a16="http://schemas.microsoft.com/office/drawing/2014/main" val="1054680530"/>
                    </a:ext>
                  </a:extLst>
                </a:gridCol>
              </a:tblGrid>
              <a:tr h="366343">
                <a:tc>
                  <a:txBody>
                    <a:bodyPr/>
                    <a:lstStyle/>
                    <a:p>
                      <a:pPr algn="l" rtl="0" fontAlgn="base">
                        <a:lnSpc>
                          <a:spcPts val="1046"/>
                        </a:lnSpc>
                        <a:buNone/>
                      </a:pPr>
                      <a:r>
                        <a:rPr lang="fr-FR" sz="1200" b="1">
                          <a:solidFill>
                            <a:srgbClr val="1F1F1F"/>
                          </a:solidFill>
                          <a:effectLst/>
                        </a:rPr>
                        <a:t>Variable</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Type Statistique</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Nature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1699300483"/>
                  </a:ext>
                </a:extLst>
              </a:tr>
              <a:tr h="513233">
                <a:tc>
                  <a:txBody>
                    <a:bodyPr/>
                    <a:lstStyle/>
                    <a:p>
                      <a:pPr algn="l" rtl="0" fontAlgn="base">
                        <a:lnSpc>
                          <a:spcPts val="1046"/>
                        </a:lnSpc>
                        <a:buNone/>
                      </a:pPr>
                      <a:r>
                        <a:rPr lang="fr-FR" sz="1200" b="1">
                          <a:solidFill>
                            <a:srgbClr val="1F1F1F"/>
                          </a:solidFill>
                          <a:effectLst/>
                        </a:rPr>
                        <a:t>Identifiant</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BF4E14"/>
                          </a:solidFill>
                          <a:effectLst/>
                        </a:rPr>
                        <a:t>Quantitative -&gt; Qualitative *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194928631"/>
                  </a:ext>
                </a:extLst>
              </a:tr>
              <a:tr h="366343">
                <a:tc>
                  <a:txBody>
                    <a:bodyPr/>
                    <a:lstStyle/>
                    <a:p>
                      <a:pPr algn="l" rtl="0" fontAlgn="base">
                        <a:lnSpc>
                          <a:spcPts val="1046"/>
                        </a:lnSpc>
                        <a:buNone/>
                      </a:pPr>
                      <a:r>
                        <a:rPr lang="fr-FR" sz="1200" b="1">
                          <a:solidFill>
                            <a:srgbClr val="1F1F1F"/>
                          </a:solidFill>
                          <a:effectLst/>
                        </a:rPr>
                        <a:t>Contrat</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Qualitative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18202034"/>
                  </a:ext>
                </a:extLst>
              </a:tr>
              <a:tr h="366343">
                <a:tc>
                  <a:txBody>
                    <a:bodyPr/>
                    <a:lstStyle/>
                    <a:p>
                      <a:pPr algn="l" rtl="0" fontAlgn="base">
                        <a:lnSpc>
                          <a:spcPts val="1046"/>
                        </a:lnSpc>
                        <a:buNone/>
                      </a:pPr>
                      <a:r>
                        <a:rPr lang="fr-FR" sz="1200" b="1">
                          <a:solidFill>
                            <a:srgbClr val="1F1F1F"/>
                          </a:solidFill>
                          <a:effectLst/>
                        </a:rPr>
                        <a:t>Genre</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Qualitative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3486144054"/>
                  </a:ext>
                </a:extLst>
              </a:tr>
              <a:tr h="366343">
                <a:tc>
                  <a:txBody>
                    <a:bodyPr/>
                    <a:lstStyle/>
                    <a:p>
                      <a:pPr algn="l" rtl="0" fontAlgn="base">
                        <a:lnSpc>
                          <a:spcPts val="1046"/>
                        </a:lnSpc>
                        <a:buNone/>
                      </a:pPr>
                      <a:r>
                        <a:rPr lang="fr-FR" sz="1200" b="1">
                          <a:solidFill>
                            <a:srgbClr val="1F1F1F"/>
                          </a:solidFill>
                          <a:effectLst/>
                        </a:rPr>
                        <a:t>Manager</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Qualitative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4199214580"/>
                  </a:ext>
                </a:extLst>
              </a:tr>
              <a:tr h="513233">
                <a:tc>
                  <a:txBody>
                    <a:bodyPr/>
                    <a:lstStyle/>
                    <a:p>
                      <a:pPr algn="l" rtl="0" fontAlgn="base">
                        <a:lnSpc>
                          <a:spcPts val="1046"/>
                        </a:lnSpc>
                        <a:buNone/>
                      </a:pPr>
                      <a:r>
                        <a:rPr lang="fr-FR" sz="1200" b="1">
                          <a:solidFill>
                            <a:srgbClr val="1F1F1F"/>
                          </a:solidFill>
                          <a:effectLst/>
                        </a:rPr>
                        <a:t>Niveau hiérarchique</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BF4E14"/>
                          </a:solidFill>
                          <a:effectLst/>
                        </a:rPr>
                        <a:t>Quantitative -&gt; Qualitative *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1275473653"/>
                  </a:ext>
                </a:extLst>
              </a:tr>
              <a:tr h="366343">
                <a:tc>
                  <a:txBody>
                    <a:bodyPr/>
                    <a:lstStyle/>
                    <a:p>
                      <a:pPr algn="l" rtl="0" fontAlgn="base">
                        <a:lnSpc>
                          <a:spcPts val="1046"/>
                        </a:lnSpc>
                        <a:buNone/>
                      </a:pPr>
                      <a:r>
                        <a:rPr lang="fr-FR" sz="1200" b="1">
                          <a:solidFill>
                            <a:srgbClr val="1F1F1F"/>
                          </a:solidFill>
                          <a:effectLst/>
                        </a:rPr>
                        <a:t>Âge</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3448338850"/>
                  </a:ext>
                </a:extLst>
              </a:tr>
              <a:tr h="366343">
                <a:tc>
                  <a:txBody>
                    <a:bodyPr/>
                    <a:lstStyle/>
                    <a:p>
                      <a:pPr algn="l" rtl="0" fontAlgn="base">
                        <a:lnSpc>
                          <a:spcPts val="1046"/>
                        </a:lnSpc>
                        <a:buNone/>
                      </a:pPr>
                      <a:r>
                        <a:rPr lang="fr-FR" sz="1200" b="1">
                          <a:solidFill>
                            <a:srgbClr val="1F1F1F"/>
                          </a:solidFill>
                          <a:effectLst/>
                        </a:rPr>
                        <a:t>Ancienneté</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Discrète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1535166741"/>
                  </a:ext>
                </a:extLst>
              </a:tr>
              <a:tr h="513233">
                <a:tc>
                  <a:txBody>
                    <a:bodyPr/>
                    <a:lstStyle/>
                    <a:p>
                      <a:pPr algn="l" rtl="0" fontAlgn="base">
                        <a:lnSpc>
                          <a:spcPts val="1046"/>
                        </a:lnSpc>
                        <a:buNone/>
                      </a:pPr>
                      <a:r>
                        <a:rPr lang="fr-FR" sz="1200" b="1">
                          <a:solidFill>
                            <a:srgbClr val="1F1F1F"/>
                          </a:solidFill>
                          <a:effectLst/>
                        </a:rPr>
                        <a:t>Taux de temps de travail</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Continue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2576467232"/>
                  </a:ext>
                </a:extLst>
              </a:tr>
              <a:tr h="366343">
                <a:tc>
                  <a:txBody>
                    <a:bodyPr/>
                    <a:lstStyle/>
                    <a:p>
                      <a:pPr algn="l" rtl="0" fontAlgn="base">
                        <a:lnSpc>
                          <a:spcPts val="1046"/>
                        </a:lnSpc>
                        <a:buNone/>
                      </a:pPr>
                      <a:r>
                        <a:rPr lang="fr-FR" sz="1200" b="1">
                          <a:solidFill>
                            <a:srgbClr val="1F1F1F"/>
                          </a:solidFill>
                          <a:effectLst/>
                        </a:rPr>
                        <a:t>Salaire</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Continue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3687677625"/>
                  </a:ext>
                </a:extLst>
              </a:tr>
              <a:tr h="513233">
                <a:tc>
                  <a:txBody>
                    <a:bodyPr/>
                    <a:lstStyle/>
                    <a:p>
                      <a:pPr algn="l" rtl="0" fontAlgn="base">
                        <a:lnSpc>
                          <a:spcPts val="1046"/>
                        </a:lnSpc>
                        <a:buNone/>
                      </a:pPr>
                      <a:r>
                        <a:rPr lang="fr-FR" sz="1200" b="1">
                          <a:solidFill>
                            <a:srgbClr val="1F1F1F"/>
                          </a:solidFill>
                          <a:effectLst/>
                        </a:rPr>
                        <a:t>Part variable (</a:t>
                      </a:r>
                      <a:r>
                        <a:rPr lang="fr-FR" sz="1200" b="1" err="1">
                          <a:solidFill>
                            <a:srgbClr val="1F1F1F"/>
                          </a:solidFill>
                          <a:effectLst/>
                        </a:rPr>
                        <a:t>Manag</a:t>
                      </a:r>
                      <a:r>
                        <a:rPr lang="fr-FR" sz="1200" b="1">
                          <a:solidFill>
                            <a:srgbClr val="1F1F1F"/>
                          </a:solidFill>
                          <a:effectLst/>
                        </a:rPr>
                        <a:t>.)</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Continue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3172881680"/>
                  </a:ext>
                </a:extLst>
              </a:tr>
              <a:tr h="513233">
                <a:tc>
                  <a:txBody>
                    <a:bodyPr/>
                    <a:lstStyle/>
                    <a:p>
                      <a:pPr algn="l" rtl="0" fontAlgn="base">
                        <a:lnSpc>
                          <a:spcPts val="1046"/>
                        </a:lnSpc>
                        <a:buNone/>
                      </a:pPr>
                      <a:r>
                        <a:rPr lang="fr-FR" sz="1200" b="1">
                          <a:solidFill>
                            <a:srgbClr val="1F1F1F"/>
                          </a:solidFill>
                          <a:effectLst/>
                        </a:rPr>
                        <a:t>Part variable (</a:t>
                      </a:r>
                      <a:r>
                        <a:rPr lang="fr-FR" sz="1200" b="1" err="1">
                          <a:solidFill>
                            <a:srgbClr val="1F1F1F"/>
                          </a:solidFill>
                          <a:effectLst/>
                        </a:rPr>
                        <a:t>Comm</a:t>
                      </a:r>
                      <a:r>
                        <a:rPr lang="fr-FR" sz="1200" b="1">
                          <a:solidFill>
                            <a:srgbClr val="1F1F1F"/>
                          </a:solidFill>
                          <a:effectLst/>
                        </a:rPr>
                        <a:t>.)</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Continue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3963382128"/>
                  </a:ext>
                </a:extLst>
              </a:tr>
              <a:tr h="513233">
                <a:tc>
                  <a:txBody>
                    <a:bodyPr/>
                    <a:lstStyle/>
                    <a:p>
                      <a:pPr algn="l" rtl="0" fontAlgn="base">
                        <a:lnSpc>
                          <a:spcPts val="1046"/>
                        </a:lnSpc>
                        <a:buNone/>
                      </a:pPr>
                      <a:r>
                        <a:rPr lang="fr-FR" sz="1200" b="1">
                          <a:solidFill>
                            <a:srgbClr val="1F1F1F"/>
                          </a:solidFill>
                          <a:effectLst/>
                        </a:rPr>
                        <a:t>Heures supplémentaires</a:t>
                      </a:r>
                      <a:r>
                        <a:rPr lang="fr-FR" sz="1200" b="0">
                          <a:solidFill>
                            <a:srgbClr val="1F1F1F"/>
                          </a:solidFill>
                          <a:effectLst/>
                        </a:rPr>
                        <a:t>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0">
                          <a:solidFill>
                            <a:srgbClr val="1F1F1F"/>
                          </a:solidFill>
                          <a:effectLst/>
                        </a:rPr>
                        <a:t>Quantitative </a:t>
                      </a:r>
                      <a:endParaRPr lang="fr-FR" sz="2700" b="0" i="0">
                        <a:effectLst/>
                        <a:latin typeface="Calibri"/>
                      </a:endParaRPr>
                    </a:p>
                  </a:txBody>
                  <a:tcPr marL="132201" marR="132201" marT="88134" marB="88134" anchor="ctr"/>
                </a:tc>
                <a:tc>
                  <a:txBody>
                    <a:bodyPr/>
                    <a:lstStyle/>
                    <a:p>
                      <a:pPr algn="l" rtl="0" fontAlgn="base">
                        <a:lnSpc>
                          <a:spcPts val="1046"/>
                        </a:lnSpc>
                        <a:buNone/>
                      </a:pPr>
                      <a:r>
                        <a:rPr lang="fr-FR" sz="1200" b="1">
                          <a:solidFill>
                            <a:srgbClr val="1F1F1F"/>
                          </a:solidFill>
                          <a:effectLst/>
                        </a:rPr>
                        <a:t>Continue</a:t>
                      </a:r>
                      <a:r>
                        <a:rPr lang="fr-FR" sz="1200" b="0">
                          <a:solidFill>
                            <a:srgbClr val="1F1F1F"/>
                          </a:solidFill>
                          <a:effectLst/>
                        </a:rPr>
                        <a:t> </a:t>
                      </a:r>
                      <a:endParaRPr lang="fr-FR" sz="2700" b="0" i="0">
                        <a:effectLst/>
                        <a:latin typeface="Calibri"/>
                      </a:endParaRPr>
                    </a:p>
                  </a:txBody>
                  <a:tcPr marL="132201" marR="132201" marT="88134" marB="88134" anchor="ctr"/>
                </a:tc>
                <a:extLst>
                  <a:ext uri="{0D108BD9-81ED-4DB2-BD59-A6C34878D82A}">
                    <a16:rowId xmlns:a16="http://schemas.microsoft.com/office/drawing/2014/main" val="161887751"/>
                  </a:ext>
                </a:extLst>
              </a:tr>
            </a:tbl>
          </a:graphicData>
        </a:graphic>
      </p:graphicFrame>
    </p:spTree>
    <p:extLst>
      <p:ext uri="{BB962C8B-B14F-4D97-AF65-F5344CB8AC3E}">
        <p14:creationId xmlns:p14="http://schemas.microsoft.com/office/powerpoint/2010/main" val="2112608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D13D0E-419E-3F75-331E-D8C0592555CE}"/>
              </a:ext>
            </a:extLst>
          </p:cNvPr>
          <p:cNvSpPr>
            <a:spLocks noGrp="1"/>
          </p:cNvSpPr>
          <p:nvPr>
            <p:ph type="title"/>
          </p:nvPr>
        </p:nvSpPr>
        <p:spPr>
          <a:xfrm>
            <a:off x="559254" y="283482"/>
            <a:ext cx="10515600" cy="1325563"/>
          </a:xfrm>
        </p:spPr>
        <p:txBody>
          <a:bodyPr>
            <a:normAutofit fontScale="90000"/>
          </a:bodyPr>
          <a:lstStyle/>
          <a:p>
            <a:r>
              <a:rPr lang="fr-FR" sz="2600" b="1">
                <a:solidFill>
                  <a:srgbClr val="0F4761"/>
                </a:solidFill>
                <a:highlight>
                  <a:srgbClr val="FFFFFF"/>
                </a:highlight>
              </a:rPr>
              <a:t>Analyse descriptive des données</a:t>
            </a:r>
            <a:br>
              <a:rPr lang="fr-FR" sz="2600" b="1">
                <a:solidFill>
                  <a:srgbClr val="0F4761"/>
                </a:solidFill>
                <a:highlight>
                  <a:srgbClr val="FFFFFF"/>
                </a:highlight>
              </a:rPr>
            </a:br>
            <a:br>
              <a:rPr lang="fr-FR" sz="2600" b="1">
                <a:highlight>
                  <a:srgbClr val="FFFFFF"/>
                </a:highlight>
              </a:rPr>
            </a:br>
            <a:r>
              <a:rPr lang="fr-FR" sz="1600" b="1">
                <a:solidFill>
                  <a:srgbClr val="0F4761"/>
                </a:solidFill>
                <a:highlight>
                  <a:srgbClr val="FFFFFF"/>
                </a:highlight>
              </a:rPr>
              <a:t>1 Variable qualitative</a:t>
            </a:r>
            <a:br>
              <a:rPr lang="fr-FR" sz="1600" b="1">
                <a:solidFill>
                  <a:srgbClr val="0F4761"/>
                </a:solidFill>
                <a:highlight>
                  <a:srgbClr val="FFFFFF"/>
                </a:highlight>
              </a:rPr>
            </a:br>
            <a:br>
              <a:rPr lang="fr-FR" sz="1600" b="1">
                <a:highlight>
                  <a:srgbClr val="FFFFFF"/>
                </a:highlight>
              </a:rPr>
            </a:br>
            <a:endParaRPr lang="fr-FR" sz="1600" b="1">
              <a:solidFill>
                <a:srgbClr val="0F4761"/>
              </a:solidFill>
              <a:highlight>
                <a:srgbClr val="FFFFFF"/>
              </a:highlight>
            </a:endParaRPr>
          </a:p>
        </p:txBody>
      </p:sp>
      <p:pic>
        <p:nvPicPr>
          <p:cNvPr id="4" name="Image 3" descr="Une image contenant texte, capture d’écran, diagramme, nombre&#10;&#10;Le contenu généré par l’IA peut être incorrect.">
            <a:extLst>
              <a:ext uri="{FF2B5EF4-FFF2-40B4-BE49-F238E27FC236}">
                <a16:creationId xmlns:a16="http://schemas.microsoft.com/office/drawing/2014/main" id="{AF179CEE-6F0B-B901-E57A-B8D4E2C8F1AC}"/>
              </a:ext>
            </a:extLst>
          </p:cNvPr>
          <p:cNvPicPr>
            <a:picLocks noChangeAspect="1"/>
          </p:cNvPicPr>
          <p:nvPr/>
        </p:nvPicPr>
        <p:blipFill>
          <a:blip r:embed="rId3"/>
          <a:stretch>
            <a:fillRect/>
          </a:stretch>
        </p:blipFill>
        <p:spPr>
          <a:xfrm>
            <a:off x="491900" y="1788660"/>
            <a:ext cx="2778577" cy="3022146"/>
          </a:xfrm>
          <a:prstGeom prst="rect">
            <a:avLst/>
          </a:prstGeom>
        </p:spPr>
      </p:pic>
      <p:sp>
        <p:nvSpPr>
          <p:cNvPr id="5" name="ZoneTexte 4">
            <a:extLst>
              <a:ext uri="{FF2B5EF4-FFF2-40B4-BE49-F238E27FC236}">
                <a16:creationId xmlns:a16="http://schemas.microsoft.com/office/drawing/2014/main" id="{81474B66-08DF-E436-3B71-1CF1B32850A7}"/>
              </a:ext>
            </a:extLst>
          </p:cNvPr>
          <p:cNvSpPr txBox="1"/>
          <p:nvPr/>
        </p:nvSpPr>
        <p:spPr>
          <a:xfrm>
            <a:off x="3272517" y="2415268"/>
            <a:ext cx="254453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 </a:t>
            </a:r>
            <a:r>
              <a:rPr lang="fr-FR" sz="1200">
                <a:highlight>
                  <a:srgbClr val="FFFFFF"/>
                </a:highlight>
                <a:latin typeface="Calibri"/>
                <a:ea typeface="Calibri"/>
                <a:cs typeface="Calibri"/>
              </a:rPr>
              <a:t>il y a 538 CDI (96,7%) et 18 CDD (3,3%). Les diagrammes en bâtons illustrent visuellement la forte prédominance des contrats CDI dans cette base RH.</a:t>
            </a:r>
          </a:p>
        </p:txBody>
      </p:sp>
      <p:sp>
        <p:nvSpPr>
          <p:cNvPr id="6" name="ZoneTexte 5">
            <a:extLst>
              <a:ext uri="{FF2B5EF4-FFF2-40B4-BE49-F238E27FC236}">
                <a16:creationId xmlns:a16="http://schemas.microsoft.com/office/drawing/2014/main" id="{BCC81D69-881A-DE78-6989-8CC8F32EB22F}"/>
              </a:ext>
            </a:extLst>
          </p:cNvPr>
          <p:cNvSpPr txBox="1"/>
          <p:nvPr/>
        </p:nvSpPr>
        <p:spPr>
          <a:xfrm>
            <a:off x="6687911" y="1381125"/>
            <a:ext cx="278266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b="1">
                <a:solidFill>
                  <a:srgbClr val="0F4761"/>
                </a:solidFill>
                <a:highlight>
                  <a:srgbClr val="FFFFFF"/>
                </a:highlight>
                <a:latin typeface="+mj-lt"/>
                <a:ea typeface="+mj-ea"/>
                <a:cs typeface="+mj-cs"/>
              </a:rPr>
              <a:t>1 Variable quantitative</a:t>
            </a:r>
          </a:p>
        </p:txBody>
      </p:sp>
      <p:sp>
        <p:nvSpPr>
          <p:cNvPr id="7" name="ZoneTexte 6">
            <a:extLst>
              <a:ext uri="{FF2B5EF4-FFF2-40B4-BE49-F238E27FC236}">
                <a16:creationId xmlns:a16="http://schemas.microsoft.com/office/drawing/2014/main" id="{7D876931-54A8-CF05-A735-9B51F0C07645}"/>
              </a:ext>
            </a:extLst>
          </p:cNvPr>
          <p:cNvSpPr txBox="1"/>
          <p:nvPr/>
        </p:nvSpPr>
        <p:spPr>
          <a:xfrm>
            <a:off x="659946" y="1415142"/>
            <a:ext cx="295274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la variable </a:t>
            </a:r>
            <a:r>
              <a:rPr lang="fr-FR" sz="1200" b="1">
                <a:highlight>
                  <a:srgbClr val="FFFFFF"/>
                </a:highlight>
                <a:latin typeface="Calibri"/>
                <a:ea typeface="Calibri"/>
                <a:cs typeface="Calibri"/>
              </a:rPr>
              <a:t>Contrat</a:t>
            </a:r>
            <a:endParaRPr lang="fr-FR" sz="1200">
              <a:highlight>
                <a:srgbClr val="FFFFFF"/>
              </a:highlight>
              <a:latin typeface="Calibri"/>
              <a:ea typeface="Calibri"/>
              <a:cs typeface="Calibri"/>
            </a:endParaRPr>
          </a:p>
        </p:txBody>
      </p:sp>
      <p:sp>
        <p:nvSpPr>
          <p:cNvPr id="8" name="Rectangle 7">
            <a:extLst>
              <a:ext uri="{FF2B5EF4-FFF2-40B4-BE49-F238E27FC236}">
                <a16:creationId xmlns:a16="http://schemas.microsoft.com/office/drawing/2014/main" id="{770EB60C-4217-18E0-2CCE-411FDBA6F25A}"/>
              </a:ext>
            </a:extLst>
          </p:cNvPr>
          <p:cNvSpPr/>
          <p:nvPr/>
        </p:nvSpPr>
        <p:spPr>
          <a:xfrm>
            <a:off x="299357" y="850446"/>
            <a:ext cx="5796643" cy="48237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562EFAF6-FC87-AE2A-90F5-DC6352957C4F}"/>
              </a:ext>
            </a:extLst>
          </p:cNvPr>
          <p:cNvSpPr txBox="1"/>
          <p:nvPr/>
        </p:nvSpPr>
        <p:spPr>
          <a:xfrm>
            <a:off x="6810375" y="1870980"/>
            <a:ext cx="295274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la variable </a:t>
            </a:r>
            <a:r>
              <a:rPr lang="fr-FR" sz="1200" b="1">
                <a:highlight>
                  <a:srgbClr val="FFFFFF"/>
                </a:highlight>
                <a:latin typeface="Calibri"/>
                <a:ea typeface="Calibri"/>
                <a:cs typeface="Calibri"/>
              </a:rPr>
              <a:t>Salaire</a:t>
            </a:r>
            <a:endParaRPr lang="fr-FR" sz="1200">
              <a:highlight>
                <a:srgbClr val="FFFFFF"/>
              </a:highlight>
              <a:latin typeface="Calibri"/>
              <a:ea typeface="Calibri"/>
              <a:cs typeface="Calibri"/>
            </a:endParaRPr>
          </a:p>
        </p:txBody>
      </p:sp>
      <p:pic>
        <p:nvPicPr>
          <p:cNvPr id="10" name="Image 9" descr="Une image contenant texte, capture d’écran, diagramme, ligne&#10;&#10;Le contenu généré par l’IA peut être incorrect.">
            <a:extLst>
              <a:ext uri="{FF2B5EF4-FFF2-40B4-BE49-F238E27FC236}">
                <a16:creationId xmlns:a16="http://schemas.microsoft.com/office/drawing/2014/main" id="{BA9E4753-846B-35FA-9EA2-0FFDB27F51F2}"/>
              </a:ext>
            </a:extLst>
          </p:cNvPr>
          <p:cNvPicPr>
            <a:picLocks noChangeAspect="1"/>
          </p:cNvPicPr>
          <p:nvPr/>
        </p:nvPicPr>
        <p:blipFill>
          <a:blip r:embed="rId4"/>
          <a:stretch>
            <a:fillRect/>
          </a:stretch>
        </p:blipFill>
        <p:spPr>
          <a:xfrm>
            <a:off x="9138557" y="2309132"/>
            <a:ext cx="2609850" cy="2552700"/>
          </a:xfrm>
          <a:prstGeom prst="rect">
            <a:avLst/>
          </a:prstGeom>
        </p:spPr>
      </p:pic>
      <p:pic>
        <p:nvPicPr>
          <p:cNvPr id="11" name="Image 10" descr="Une image contenant texte, capture d’écran, diagramme, Tracé&#10;&#10;Le contenu généré par l’IA peut être incorrect.">
            <a:extLst>
              <a:ext uri="{FF2B5EF4-FFF2-40B4-BE49-F238E27FC236}">
                <a16:creationId xmlns:a16="http://schemas.microsoft.com/office/drawing/2014/main" id="{7D048F19-182C-C305-AE3E-57FCF504AE2A}"/>
              </a:ext>
            </a:extLst>
          </p:cNvPr>
          <p:cNvPicPr>
            <a:picLocks noChangeAspect="1"/>
          </p:cNvPicPr>
          <p:nvPr/>
        </p:nvPicPr>
        <p:blipFill>
          <a:blip r:embed="rId5"/>
          <a:stretch>
            <a:fillRect/>
          </a:stretch>
        </p:blipFill>
        <p:spPr>
          <a:xfrm>
            <a:off x="6535511" y="2320699"/>
            <a:ext cx="2400300" cy="2543175"/>
          </a:xfrm>
          <a:prstGeom prst="rect">
            <a:avLst/>
          </a:prstGeom>
        </p:spPr>
      </p:pic>
      <p:sp>
        <p:nvSpPr>
          <p:cNvPr id="13" name="Rectangle 12">
            <a:extLst>
              <a:ext uri="{FF2B5EF4-FFF2-40B4-BE49-F238E27FC236}">
                <a16:creationId xmlns:a16="http://schemas.microsoft.com/office/drawing/2014/main" id="{74DD136C-4B67-5F33-E28A-25204C71BC74}"/>
              </a:ext>
            </a:extLst>
          </p:cNvPr>
          <p:cNvSpPr/>
          <p:nvPr/>
        </p:nvSpPr>
        <p:spPr>
          <a:xfrm>
            <a:off x="6286500" y="1245053"/>
            <a:ext cx="5708197" cy="53952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D18A002C-2D3E-8ECF-742A-06B6BE175043}"/>
              </a:ext>
            </a:extLst>
          </p:cNvPr>
          <p:cNvSpPr txBox="1"/>
          <p:nvPr/>
        </p:nvSpPr>
        <p:spPr>
          <a:xfrm>
            <a:off x="6449787" y="5102678"/>
            <a:ext cx="5374819"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 </a:t>
            </a:r>
            <a:endParaRPr lang="fr-FR" sz="1200">
              <a:solidFill>
                <a:srgbClr val="0F4761"/>
              </a:solidFill>
              <a:highlight>
                <a:srgbClr val="FFFFFF"/>
              </a:highlight>
              <a:latin typeface="Calibri"/>
              <a:ea typeface="Calibri"/>
              <a:cs typeface="Calibri"/>
            </a:endParaRPr>
          </a:p>
          <a:p>
            <a:pPr marL="285750" indent="-285750">
              <a:buFont typeface="Symbol"/>
              <a:buChar char="•"/>
            </a:pPr>
            <a:r>
              <a:rPr lang="fr-FR" sz="1200">
                <a:highlight>
                  <a:srgbClr val="FFFFFF"/>
                </a:highlight>
                <a:latin typeface="Calibri"/>
                <a:ea typeface="Calibri"/>
                <a:cs typeface="Calibri"/>
              </a:rPr>
              <a:t>La moyenne est très supérieure à la médiane, cela confirme la présence de très hauts salaires qui tirent la moyenne vers le haut. Le </a:t>
            </a:r>
            <a:r>
              <a:rPr lang="fr-FR" sz="1200" err="1">
                <a:highlight>
                  <a:srgbClr val="FFFFFF"/>
                </a:highlight>
                <a:latin typeface="Calibri"/>
                <a:ea typeface="Calibri"/>
                <a:cs typeface="Calibri"/>
              </a:rPr>
              <a:t>boxplot</a:t>
            </a:r>
            <a:r>
              <a:rPr lang="fr-FR" sz="1200">
                <a:highlight>
                  <a:srgbClr val="FFFFFF"/>
                </a:highlight>
                <a:latin typeface="Calibri"/>
                <a:ea typeface="Calibri"/>
                <a:cs typeface="Calibri"/>
              </a:rPr>
              <a:t> le confirme également.</a:t>
            </a:r>
          </a:p>
          <a:p>
            <a:pPr marL="285750" indent="-285750">
              <a:buFont typeface="Symbol"/>
              <a:buChar char="•"/>
            </a:pPr>
            <a:r>
              <a:rPr lang="fr-FR" sz="1200">
                <a:highlight>
                  <a:srgbClr val="FFFFFF"/>
                </a:highlight>
                <a:latin typeface="Calibri"/>
                <a:ea typeface="Calibri"/>
                <a:cs typeface="Calibri"/>
              </a:rPr>
              <a:t>Les salaires s'écartent de la moyenne générale d’environ 15 315 €. Les salaires ne sont pas regroupés autour de la moyenne. Au contraire, ils sont très dispersés.</a:t>
            </a:r>
          </a:p>
          <a:p>
            <a:pPr algn="l"/>
            <a:endParaRPr lang="fr-FR"/>
          </a:p>
        </p:txBody>
      </p:sp>
    </p:spTree>
    <p:extLst>
      <p:ext uri="{BB962C8B-B14F-4D97-AF65-F5344CB8AC3E}">
        <p14:creationId xmlns:p14="http://schemas.microsoft.com/office/powerpoint/2010/main" val="4014224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EADD4-FE49-DD62-314D-E17F1EF79B1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C26662-41C1-1130-6343-6AE130B862B5}"/>
              </a:ext>
            </a:extLst>
          </p:cNvPr>
          <p:cNvSpPr>
            <a:spLocks noGrp="1"/>
          </p:cNvSpPr>
          <p:nvPr>
            <p:ph type="title"/>
          </p:nvPr>
        </p:nvSpPr>
        <p:spPr>
          <a:xfrm>
            <a:off x="559254" y="283482"/>
            <a:ext cx="10515600" cy="1325563"/>
          </a:xfrm>
        </p:spPr>
        <p:txBody>
          <a:bodyPr>
            <a:normAutofit/>
          </a:bodyPr>
          <a:lstStyle/>
          <a:p>
            <a:r>
              <a:rPr lang="fr-FR" sz="2600" b="1">
                <a:solidFill>
                  <a:srgbClr val="0F4761"/>
                </a:solidFill>
                <a:highlight>
                  <a:srgbClr val="FFFFFF"/>
                </a:highlight>
              </a:rPr>
              <a:t>Analyse descriptive des données</a:t>
            </a:r>
            <a:br>
              <a:rPr lang="fr-FR" sz="2600" b="1">
                <a:solidFill>
                  <a:srgbClr val="0F4761"/>
                </a:solidFill>
                <a:highlight>
                  <a:srgbClr val="FFFFFF"/>
                </a:highlight>
              </a:rPr>
            </a:br>
            <a:br>
              <a:rPr lang="fr-FR" sz="2600" b="1">
                <a:highlight>
                  <a:srgbClr val="FFFFFF"/>
                </a:highlight>
              </a:rPr>
            </a:br>
            <a:r>
              <a:rPr lang="fr-FR" sz="1400" b="1">
                <a:solidFill>
                  <a:srgbClr val="0F4761"/>
                </a:solidFill>
                <a:highlight>
                  <a:srgbClr val="FFFFFF"/>
                </a:highlight>
              </a:rPr>
              <a:t>2 Variables qualitatives</a:t>
            </a:r>
            <a:br>
              <a:rPr lang="fr-FR" sz="1400" b="1">
                <a:solidFill>
                  <a:srgbClr val="0F4761"/>
                </a:solidFill>
                <a:highlight>
                  <a:srgbClr val="FFFFFF"/>
                </a:highlight>
              </a:rPr>
            </a:br>
            <a:endParaRPr lang="fr-FR" sz="1400" b="1">
              <a:solidFill>
                <a:srgbClr val="0F4761"/>
              </a:solidFill>
              <a:highlight>
                <a:srgbClr val="FFFFFF"/>
              </a:highlight>
            </a:endParaRPr>
          </a:p>
        </p:txBody>
      </p:sp>
      <p:sp>
        <p:nvSpPr>
          <p:cNvPr id="6" name="ZoneTexte 5">
            <a:extLst>
              <a:ext uri="{FF2B5EF4-FFF2-40B4-BE49-F238E27FC236}">
                <a16:creationId xmlns:a16="http://schemas.microsoft.com/office/drawing/2014/main" id="{22FE6AB6-A04A-37E0-2E10-4EB6CEDB3F9C}"/>
              </a:ext>
            </a:extLst>
          </p:cNvPr>
          <p:cNvSpPr txBox="1"/>
          <p:nvPr/>
        </p:nvSpPr>
        <p:spPr>
          <a:xfrm>
            <a:off x="6687911" y="537482"/>
            <a:ext cx="278266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b="1">
                <a:solidFill>
                  <a:srgbClr val="0F4761"/>
                </a:solidFill>
                <a:highlight>
                  <a:srgbClr val="FFFFFF"/>
                </a:highlight>
                <a:latin typeface="+mj-lt"/>
                <a:ea typeface="+mj-ea"/>
                <a:cs typeface="+mj-cs"/>
              </a:rPr>
              <a:t>2 Variables quantitatives</a:t>
            </a:r>
          </a:p>
        </p:txBody>
      </p:sp>
      <p:sp>
        <p:nvSpPr>
          <p:cNvPr id="7" name="ZoneTexte 6">
            <a:extLst>
              <a:ext uri="{FF2B5EF4-FFF2-40B4-BE49-F238E27FC236}">
                <a16:creationId xmlns:a16="http://schemas.microsoft.com/office/drawing/2014/main" id="{3889EBF7-395C-6EB0-ADAA-2A20D2D8F786}"/>
              </a:ext>
            </a:extLst>
          </p:cNvPr>
          <p:cNvSpPr txBox="1"/>
          <p:nvPr/>
        </p:nvSpPr>
        <p:spPr>
          <a:xfrm>
            <a:off x="659946" y="1381125"/>
            <a:ext cx="42658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les variables </a:t>
            </a:r>
            <a:r>
              <a:rPr lang="fr-FR" sz="1200" b="1">
                <a:highlight>
                  <a:srgbClr val="FFFFFF"/>
                </a:highlight>
                <a:latin typeface="Calibri"/>
                <a:ea typeface="Calibri"/>
                <a:cs typeface="Calibri"/>
              </a:rPr>
              <a:t>Genre</a:t>
            </a:r>
            <a:r>
              <a:rPr lang="fr-FR" sz="1200">
                <a:highlight>
                  <a:srgbClr val="FFFFFF"/>
                </a:highlight>
                <a:latin typeface="Calibri"/>
                <a:ea typeface="Calibri"/>
                <a:cs typeface="Calibri"/>
              </a:rPr>
              <a:t> et </a:t>
            </a:r>
            <a:r>
              <a:rPr lang="fr-FR" sz="1200" b="1">
                <a:highlight>
                  <a:srgbClr val="FFFFFF"/>
                </a:highlight>
                <a:latin typeface="Calibri"/>
                <a:ea typeface="Calibri"/>
                <a:cs typeface="Calibri"/>
              </a:rPr>
              <a:t>Niveau Hiérarchique</a:t>
            </a:r>
            <a:endParaRPr lang="fr-FR" sz="1200">
              <a:highlight>
                <a:srgbClr val="FFFFFF"/>
              </a:highlight>
              <a:latin typeface="Calibri"/>
              <a:ea typeface="Calibri"/>
              <a:cs typeface="Calibri"/>
            </a:endParaRPr>
          </a:p>
        </p:txBody>
      </p:sp>
      <p:sp>
        <p:nvSpPr>
          <p:cNvPr id="8" name="Rectangle 7">
            <a:extLst>
              <a:ext uri="{FF2B5EF4-FFF2-40B4-BE49-F238E27FC236}">
                <a16:creationId xmlns:a16="http://schemas.microsoft.com/office/drawing/2014/main" id="{15398FCE-6C25-E5D2-B0BD-0D0B54D945FF}"/>
              </a:ext>
            </a:extLst>
          </p:cNvPr>
          <p:cNvSpPr/>
          <p:nvPr/>
        </p:nvSpPr>
        <p:spPr>
          <a:xfrm>
            <a:off x="251732" y="904875"/>
            <a:ext cx="5796643" cy="578983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94B30C67-C76C-287D-357B-C0E401606A16}"/>
              </a:ext>
            </a:extLst>
          </p:cNvPr>
          <p:cNvSpPr txBox="1"/>
          <p:nvPr/>
        </p:nvSpPr>
        <p:spPr>
          <a:xfrm>
            <a:off x="6687911" y="904873"/>
            <a:ext cx="375557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les variables </a:t>
            </a:r>
            <a:r>
              <a:rPr lang="fr-FR" sz="1200" b="1">
                <a:highlight>
                  <a:srgbClr val="FFFFFF"/>
                </a:highlight>
                <a:latin typeface="Calibri"/>
                <a:ea typeface="Calibri"/>
                <a:cs typeface="Calibri"/>
              </a:rPr>
              <a:t>Age </a:t>
            </a:r>
            <a:r>
              <a:rPr lang="fr-FR" sz="1200">
                <a:highlight>
                  <a:srgbClr val="FFFFFF"/>
                </a:highlight>
                <a:latin typeface="Calibri"/>
                <a:ea typeface="Calibri"/>
                <a:cs typeface="Calibri"/>
              </a:rPr>
              <a:t>et le</a:t>
            </a:r>
            <a:r>
              <a:rPr lang="fr-FR" sz="1200" b="1">
                <a:highlight>
                  <a:srgbClr val="FFFFFF"/>
                </a:highlight>
                <a:latin typeface="Calibri"/>
                <a:ea typeface="Calibri"/>
                <a:cs typeface="Calibri"/>
              </a:rPr>
              <a:t> Salaire</a:t>
            </a:r>
            <a:endParaRPr lang="fr-FR" sz="1200">
              <a:highlight>
                <a:srgbClr val="FFFFFF"/>
              </a:highlight>
              <a:latin typeface="Calibri"/>
              <a:ea typeface="Calibri"/>
              <a:cs typeface="Calibri"/>
            </a:endParaRPr>
          </a:p>
        </p:txBody>
      </p:sp>
      <p:sp>
        <p:nvSpPr>
          <p:cNvPr id="13" name="Rectangle 12">
            <a:extLst>
              <a:ext uri="{FF2B5EF4-FFF2-40B4-BE49-F238E27FC236}">
                <a16:creationId xmlns:a16="http://schemas.microsoft.com/office/drawing/2014/main" id="{9EFF5B19-2DB2-0309-D3CF-487A0E970FC8}"/>
              </a:ext>
            </a:extLst>
          </p:cNvPr>
          <p:cNvSpPr/>
          <p:nvPr/>
        </p:nvSpPr>
        <p:spPr>
          <a:xfrm>
            <a:off x="6286500" y="394607"/>
            <a:ext cx="5708197" cy="624567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E36BBB08-E2C8-F2BC-FF92-86FD67FBEB2A}"/>
              </a:ext>
            </a:extLst>
          </p:cNvPr>
          <p:cNvSpPr txBox="1"/>
          <p:nvPr/>
        </p:nvSpPr>
        <p:spPr>
          <a:xfrm>
            <a:off x="6449787" y="4442732"/>
            <a:ext cx="537481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 </a:t>
            </a:r>
            <a:endParaRPr lang="fr-FR" sz="1200">
              <a:solidFill>
                <a:srgbClr val="0F4761"/>
              </a:solidFill>
              <a:highlight>
                <a:srgbClr val="FFFFFF"/>
              </a:highlight>
              <a:latin typeface="Calibri"/>
              <a:ea typeface="Calibri"/>
              <a:cs typeface="Calibri"/>
            </a:endParaRPr>
          </a:p>
          <a:p>
            <a:pPr marL="285750" indent="-285750">
              <a:buFont typeface="Symbol"/>
              <a:buChar char="•"/>
            </a:pPr>
            <a:r>
              <a:rPr lang="fr-FR" sz="1200">
                <a:solidFill>
                  <a:srgbClr val="0F4761"/>
                </a:solidFill>
                <a:highlight>
                  <a:srgbClr val="FFFFFF"/>
                </a:highlight>
                <a:latin typeface="Calibri"/>
                <a:ea typeface="Calibri"/>
                <a:cs typeface="Calibri"/>
              </a:rPr>
              <a:t>Les points sont très dispersés formant un "nuage" large plutôt qu'une ligne droite.</a:t>
            </a:r>
          </a:p>
          <a:p>
            <a:pPr marL="285750" indent="-285750">
              <a:buFont typeface="Symbol"/>
              <a:buChar char="•"/>
            </a:pPr>
            <a:r>
              <a:rPr lang="fr-FR" sz="1200">
                <a:solidFill>
                  <a:srgbClr val="0F4761"/>
                </a:solidFill>
                <a:highlight>
                  <a:srgbClr val="FFFFFF"/>
                </a:highlight>
                <a:latin typeface="Calibri"/>
                <a:ea typeface="Calibri"/>
                <a:cs typeface="Calibri"/>
              </a:rPr>
              <a:t>Beaucoup de points concentrés en bas du graphique (entre 20k€ et 40k€) pour toutes les tranches d'âge.</a:t>
            </a:r>
          </a:p>
          <a:p>
            <a:pPr marL="285750" indent="-285750">
              <a:buFont typeface="Symbol"/>
              <a:buChar char="•"/>
            </a:pPr>
            <a:r>
              <a:rPr lang="fr-FR" sz="1200">
                <a:solidFill>
                  <a:srgbClr val="0F4761"/>
                </a:solidFill>
                <a:highlight>
                  <a:srgbClr val="FFFFFF"/>
                </a:highlight>
                <a:latin typeface="Calibri"/>
                <a:ea typeface="Calibri"/>
                <a:cs typeface="Calibri"/>
              </a:rPr>
              <a:t>Les quelques points très hauts (salaires &gt; 100k€) se situent plutôt vers la droite (salariés de plus de 50 ans), mais ils sont trop peu nombreux pour créer une tendance forte.</a:t>
            </a:r>
          </a:p>
          <a:p>
            <a:pPr marL="285750" indent="-285750">
              <a:buFont typeface="Symbol"/>
              <a:buChar char="•"/>
            </a:pPr>
            <a:r>
              <a:rPr lang="fr-FR" sz="1200">
                <a:solidFill>
                  <a:srgbClr val="0F4761"/>
                </a:solidFill>
                <a:highlight>
                  <a:srgbClr val="FFFFFF"/>
                </a:highlight>
                <a:latin typeface="Calibri"/>
                <a:ea typeface="Calibri"/>
                <a:cs typeface="Calibri"/>
              </a:rPr>
              <a:t>La droite de régression : Elle a une pente légèrement montante, mais elle ne passera pas au milieu de la majorité des points. Cela confirme que le lien existe mais qu'il est "parasité" par une autre variable (niveau hiérarchique ?)</a:t>
            </a:r>
          </a:p>
          <a:p>
            <a:endParaRPr lang="fr-FR" sz="1200" b="1">
              <a:solidFill>
                <a:srgbClr val="0F4761"/>
              </a:solidFill>
              <a:highlight>
                <a:srgbClr val="FFFFFF"/>
              </a:highlight>
              <a:latin typeface="Calibri"/>
              <a:ea typeface="Calibri"/>
              <a:cs typeface="Calibri"/>
            </a:endParaRPr>
          </a:p>
          <a:p>
            <a:pPr algn="l"/>
            <a:endParaRPr lang="fr-FR"/>
          </a:p>
        </p:txBody>
      </p:sp>
      <p:pic>
        <p:nvPicPr>
          <p:cNvPr id="3" name="Image 2" descr="Une image contenant texte, Police, blanc, nombre&#10;&#10;Le contenu généré par l’IA peut être incorrect.">
            <a:extLst>
              <a:ext uri="{FF2B5EF4-FFF2-40B4-BE49-F238E27FC236}">
                <a16:creationId xmlns:a16="http://schemas.microsoft.com/office/drawing/2014/main" id="{EBC3B047-DE37-CB72-9608-B7D53B15DF34}"/>
              </a:ext>
            </a:extLst>
          </p:cNvPr>
          <p:cNvPicPr>
            <a:picLocks noChangeAspect="1"/>
          </p:cNvPicPr>
          <p:nvPr/>
        </p:nvPicPr>
        <p:blipFill>
          <a:blip r:embed="rId3"/>
          <a:stretch>
            <a:fillRect/>
          </a:stretch>
        </p:blipFill>
        <p:spPr>
          <a:xfrm>
            <a:off x="825954" y="2151289"/>
            <a:ext cx="4097111" cy="115388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6" name="Image 15" descr="Une image contenant texte, Police, blanc, typographie&#10;&#10;Le contenu généré par l’IA peut être incorrect.">
            <a:extLst>
              <a:ext uri="{FF2B5EF4-FFF2-40B4-BE49-F238E27FC236}">
                <a16:creationId xmlns:a16="http://schemas.microsoft.com/office/drawing/2014/main" id="{11DE8DC1-B531-9BE1-5D1C-DC1BE1B082FA}"/>
              </a:ext>
            </a:extLst>
          </p:cNvPr>
          <p:cNvPicPr>
            <a:picLocks noChangeAspect="1"/>
          </p:cNvPicPr>
          <p:nvPr/>
        </p:nvPicPr>
        <p:blipFill>
          <a:blip r:embed="rId4"/>
          <a:stretch>
            <a:fillRect/>
          </a:stretch>
        </p:blipFill>
        <p:spPr>
          <a:xfrm>
            <a:off x="782411" y="3661682"/>
            <a:ext cx="4735286" cy="94977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8" name="ZoneTexte 17">
            <a:extLst>
              <a:ext uri="{FF2B5EF4-FFF2-40B4-BE49-F238E27FC236}">
                <a16:creationId xmlns:a16="http://schemas.microsoft.com/office/drawing/2014/main" id="{985969C7-1699-3F70-2DDC-8AA7984CAB27}"/>
              </a:ext>
            </a:extLst>
          </p:cNvPr>
          <p:cNvSpPr txBox="1"/>
          <p:nvPr/>
        </p:nvSpPr>
        <p:spPr>
          <a:xfrm>
            <a:off x="952500" y="2007053"/>
            <a:ext cx="1646464" cy="27699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a:highlight>
                  <a:srgbClr val="FFFFFF"/>
                </a:highlight>
                <a:latin typeface="Calibri"/>
                <a:ea typeface="Calibri"/>
                <a:cs typeface="Calibri"/>
              </a:rPr>
              <a:t>Tableau Tri croisé</a:t>
            </a:r>
            <a:endParaRPr lang="fr-FR" b="1"/>
          </a:p>
        </p:txBody>
      </p:sp>
      <p:sp>
        <p:nvSpPr>
          <p:cNvPr id="19" name="ZoneTexte 18">
            <a:extLst>
              <a:ext uri="{FF2B5EF4-FFF2-40B4-BE49-F238E27FC236}">
                <a16:creationId xmlns:a16="http://schemas.microsoft.com/office/drawing/2014/main" id="{AE8794D7-47C2-ABD9-F04B-72F2BD622B05}"/>
              </a:ext>
            </a:extLst>
          </p:cNvPr>
          <p:cNvSpPr txBox="1"/>
          <p:nvPr/>
        </p:nvSpPr>
        <p:spPr>
          <a:xfrm>
            <a:off x="911678" y="3456213"/>
            <a:ext cx="2095499" cy="27699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a:highlight>
                  <a:srgbClr val="FFFFFF"/>
                </a:highlight>
                <a:latin typeface="Calibri"/>
                <a:ea typeface="Calibri"/>
                <a:cs typeface="Calibri"/>
              </a:rPr>
              <a:t>Tableau en pourcentage</a:t>
            </a:r>
            <a:endParaRPr lang="fr-FR" b="1"/>
          </a:p>
        </p:txBody>
      </p:sp>
      <p:sp>
        <p:nvSpPr>
          <p:cNvPr id="20" name="ZoneTexte 19">
            <a:extLst>
              <a:ext uri="{FF2B5EF4-FFF2-40B4-BE49-F238E27FC236}">
                <a16:creationId xmlns:a16="http://schemas.microsoft.com/office/drawing/2014/main" id="{7B4AAFFD-015D-7332-3BFD-5B26F19E1210}"/>
              </a:ext>
            </a:extLst>
          </p:cNvPr>
          <p:cNvSpPr txBox="1"/>
          <p:nvPr/>
        </p:nvSpPr>
        <p:spPr>
          <a:xfrm>
            <a:off x="768801" y="4776107"/>
            <a:ext cx="504825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 </a:t>
            </a:r>
            <a:endParaRPr lang="fr-FR" sz="1200">
              <a:solidFill>
                <a:srgbClr val="0F4761"/>
              </a:solidFill>
              <a:highlight>
                <a:srgbClr val="FFFFFF"/>
              </a:highlight>
              <a:latin typeface="Calibri"/>
              <a:ea typeface="Calibri"/>
              <a:cs typeface="Calibri"/>
            </a:endParaRPr>
          </a:p>
          <a:p>
            <a:pPr marL="285750" indent="-285750">
              <a:buFont typeface="Symbol"/>
              <a:buChar char="•"/>
            </a:pPr>
            <a:r>
              <a:rPr lang="fr-FR" sz="1200">
                <a:highlight>
                  <a:srgbClr val="FFFFFF"/>
                </a:highlight>
                <a:latin typeface="Calibri"/>
                <a:ea typeface="Calibri"/>
                <a:cs typeface="Calibri"/>
              </a:rPr>
              <a:t>34,8 % des femmes de l'entreprise sont au Niveau 2, contre seulement 24,4 % des hommes. Les femmes sont surreprésentées dans les niveaux d'exécution ou d'entrée de grille par rapport aux hommes.</a:t>
            </a:r>
          </a:p>
          <a:p>
            <a:pPr marL="285750" indent="-285750">
              <a:buFont typeface="Symbol"/>
              <a:buChar char="•"/>
            </a:pPr>
            <a:r>
              <a:rPr lang="fr-FR" sz="1200">
                <a:highlight>
                  <a:srgbClr val="FFFFFF"/>
                </a:highlight>
                <a:latin typeface="Calibri"/>
                <a:ea typeface="Calibri"/>
                <a:cs typeface="Calibri"/>
              </a:rPr>
              <a:t>Il existe un "décrochage" pour les femmes dans l'accès aux niveaux de management intermédiaire (N4) et de direction (N6)</a:t>
            </a:r>
          </a:p>
          <a:p>
            <a:pPr marL="285750" indent="-285750">
              <a:buFont typeface="Symbol"/>
              <a:buChar char="•"/>
            </a:pPr>
            <a:r>
              <a:rPr lang="fr-FR" sz="1200">
                <a:highlight>
                  <a:srgbClr val="FFFFFF"/>
                </a:highlight>
                <a:latin typeface="Calibri"/>
                <a:ea typeface="Calibri"/>
                <a:cs typeface="Calibri"/>
              </a:rPr>
              <a:t>Niveau 7 : En pourcentage, il y a plus de femmes au Niveau 7 (1,96 %) que d'hommes (0,57 %). Le très haut sommet est paritaire, mais que le “juste en dessous” reste majoritairement masculin.</a:t>
            </a:r>
          </a:p>
          <a:p>
            <a:pPr algn="l"/>
            <a:endParaRPr lang="fr-FR"/>
          </a:p>
        </p:txBody>
      </p:sp>
      <p:pic>
        <p:nvPicPr>
          <p:cNvPr id="22" name="Image 21" descr="Une image contenant texte, capture d’écran, diagramme, ligne&#10;&#10;Le contenu généré par l’IA peut être incorrect.">
            <a:extLst>
              <a:ext uri="{FF2B5EF4-FFF2-40B4-BE49-F238E27FC236}">
                <a16:creationId xmlns:a16="http://schemas.microsoft.com/office/drawing/2014/main" id="{31CC9E35-0ED1-20A8-AA72-E8B69C5D1F52}"/>
              </a:ext>
            </a:extLst>
          </p:cNvPr>
          <p:cNvPicPr>
            <a:picLocks noChangeAspect="1"/>
          </p:cNvPicPr>
          <p:nvPr/>
        </p:nvPicPr>
        <p:blipFill>
          <a:blip r:embed="rId5"/>
          <a:stretch>
            <a:fillRect/>
          </a:stretch>
        </p:blipFill>
        <p:spPr>
          <a:xfrm>
            <a:off x="7234917" y="1523320"/>
            <a:ext cx="3668485" cy="2715986"/>
          </a:xfrm>
          <a:prstGeom prst="rect">
            <a:avLst/>
          </a:prstGeom>
        </p:spPr>
      </p:pic>
    </p:spTree>
    <p:extLst>
      <p:ext uri="{BB962C8B-B14F-4D97-AF65-F5344CB8AC3E}">
        <p14:creationId xmlns:p14="http://schemas.microsoft.com/office/powerpoint/2010/main" val="1123943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B74F5718-51ED-9B96-F2A5-AA02D8E6841E}"/>
              </a:ext>
            </a:extLst>
          </p:cNvPr>
          <p:cNvSpPr txBox="1">
            <a:spLocks/>
          </p:cNvSpPr>
          <p:nvPr/>
        </p:nvSpPr>
        <p:spPr>
          <a:xfrm>
            <a:off x="559254" y="2834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600" b="1">
                <a:solidFill>
                  <a:srgbClr val="0F4761"/>
                </a:solidFill>
                <a:highlight>
                  <a:srgbClr val="FFFFFF"/>
                </a:highlight>
              </a:rPr>
              <a:t>Analyse descriptive des données</a:t>
            </a:r>
            <a:br>
              <a:rPr lang="fr-FR" sz="2600" b="1">
                <a:solidFill>
                  <a:srgbClr val="0F4761"/>
                </a:solidFill>
                <a:highlight>
                  <a:srgbClr val="FFFFFF"/>
                </a:highlight>
              </a:rPr>
            </a:br>
            <a:br>
              <a:rPr lang="fr-FR" sz="2600" b="1">
                <a:highlight>
                  <a:srgbClr val="FFFFFF"/>
                </a:highlight>
              </a:rPr>
            </a:br>
            <a:r>
              <a:rPr lang="fr-FR" sz="1600" b="1">
                <a:solidFill>
                  <a:srgbClr val="0F4761"/>
                </a:solidFill>
                <a:highlight>
                  <a:srgbClr val="FFFFFF"/>
                </a:highlight>
              </a:rPr>
              <a:t>2 Variables :1 quanti &amp; 1 </a:t>
            </a:r>
            <a:r>
              <a:rPr lang="fr-FR" sz="1600" b="1" err="1">
                <a:solidFill>
                  <a:srgbClr val="0F4761"/>
                </a:solidFill>
                <a:highlight>
                  <a:srgbClr val="FFFFFF"/>
                </a:highlight>
              </a:rPr>
              <a:t>quali</a:t>
            </a:r>
            <a:endParaRPr lang="fr-FR" sz="1600" b="1">
              <a:solidFill>
                <a:srgbClr val="0F4761"/>
              </a:solidFill>
              <a:highlight>
                <a:srgbClr val="FFFFFF"/>
              </a:highlight>
            </a:endParaRPr>
          </a:p>
        </p:txBody>
      </p:sp>
      <p:sp>
        <p:nvSpPr>
          <p:cNvPr id="6" name="ZoneTexte 5">
            <a:extLst>
              <a:ext uri="{FF2B5EF4-FFF2-40B4-BE49-F238E27FC236}">
                <a16:creationId xmlns:a16="http://schemas.microsoft.com/office/drawing/2014/main" id="{42F33E8A-0B6E-7DD0-7E05-EB36D1EFC0F9}"/>
              </a:ext>
            </a:extLst>
          </p:cNvPr>
          <p:cNvSpPr txBox="1"/>
          <p:nvPr/>
        </p:nvSpPr>
        <p:spPr>
          <a:xfrm>
            <a:off x="560351" y="1471539"/>
            <a:ext cx="369458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les variables </a:t>
            </a:r>
            <a:r>
              <a:rPr lang="fr-FR" sz="1200" b="1">
                <a:highlight>
                  <a:srgbClr val="FFFFFF"/>
                </a:highlight>
                <a:latin typeface="Calibri"/>
                <a:ea typeface="Calibri"/>
                <a:cs typeface="Calibri"/>
              </a:rPr>
              <a:t>Genre </a:t>
            </a:r>
            <a:r>
              <a:rPr lang="fr-FR" sz="1200">
                <a:highlight>
                  <a:srgbClr val="FFFFFF"/>
                </a:highlight>
                <a:latin typeface="Calibri"/>
                <a:ea typeface="Calibri"/>
                <a:cs typeface="Calibri"/>
              </a:rPr>
              <a:t>et </a:t>
            </a:r>
            <a:r>
              <a:rPr lang="fr-FR" sz="1200" b="1">
                <a:highlight>
                  <a:srgbClr val="FFFFFF"/>
                </a:highlight>
                <a:latin typeface="Calibri"/>
                <a:ea typeface="Calibri"/>
                <a:cs typeface="Calibri"/>
              </a:rPr>
              <a:t>Salaire</a:t>
            </a:r>
            <a:endParaRPr lang="fr-FR"/>
          </a:p>
        </p:txBody>
      </p:sp>
      <p:pic>
        <p:nvPicPr>
          <p:cNvPr id="7" name="Image 6" descr="Une image contenant texte, capture d’écran, diagramme, affichage&#10;&#10;Le contenu généré par l’IA peut être incorrect.">
            <a:extLst>
              <a:ext uri="{FF2B5EF4-FFF2-40B4-BE49-F238E27FC236}">
                <a16:creationId xmlns:a16="http://schemas.microsoft.com/office/drawing/2014/main" id="{1A189556-4A50-84E6-52A5-468FC1ED40B0}"/>
              </a:ext>
            </a:extLst>
          </p:cNvPr>
          <p:cNvPicPr>
            <a:picLocks noChangeAspect="1"/>
          </p:cNvPicPr>
          <p:nvPr/>
        </p:nvPicPr>
        <p:blipFill>
          <a:blip r:embed="rId3"/>
          <a:stretch>
            <a:fillRect/>
          </a:stretch>
        </p:blipFill>
        <p:spPr>
          <a:xfrm>
            <a:off x="1279619" y="1746804"/>
            <a:ext cx="3141988" cy="3189957"/>
          </a:xfrm>
          <a:prstGeom prst="rect">
            <a:avLst/>
          </a:prstGeom>
        </p:spPr>
      </p:pic>
      <p:sp>
        <p:nvSpPr>
          <p:cNvPr id="8" name="ZoneTexte 7">
            <a:extLst>
              <a:ext uri="{FF2B5EF4-FFF2-40B4-BE49-F238E27FC236}">
                <a16:creationId xmlns:a16="http://schemas.microsoft.com/office/drawing/2014/main" id="{665CE12B-2280-4980-F0C3-0B8F6A180EA9}"/>
              </a:ext>
            </a:extLst>
          </p:cNvPr>
          <p:cNvSpPr txBox="1"/>
          <p:nvPr/>
        </p:nvSpPr>
        <p:spPr>
          <a:xfrm>
            <a:off x="497316" y="5013412"/>
            <a:ext cx="5109972"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a:t>
            </a:r>
            <a:endParaRPr lang="fr-FR" sz="1200">
              <a:solidFill>
                <a:srgbClr val="0F4761"/>
              </a:solidFill>
              <a:highlight>
                <a:srgbClr val="FFFFFF"/>
              </a:highlight>
              <a:latin typeface="Calibri"/>
              <a:ea typeface="Calibri"/>
              <a:cs typeface="Calibri"/>
            </a:endParaRPr>
          </a:p>
          <a:p>
            <a:pPr marL="285750" indent="-285750" algn="just">
              <a:buFont typeface="Symbol"/>
              <a:buChar char="•"/>
            </a:pPr>
            <a:r>
              <a:rPr lang="fr-FR" sz="1200">
                <a:highlight>
                  <a:srgbClr val="FFFFFF"/>
                </a:highlight>
                <a:latin typeface="Calibri"/>
                <a:ea typeface="Calibri"/>
                <a:cs typeface="Calibri"/>
              </a:rPr>
              <a:t>La boîte des Hommes est plus étendue vers le haut, cela confirme que les salaires les plus élevés de l'entreprise sont plutôt détenus par des hommes, ce qui explique la différence de moyenne constatée.</a:t>
            </a:r>
          </a:p>
          <a:p>
            <a:pPr marL="285750" indent="-285750" algn="just">
              <a:buFont typeface="Symbol"/>
              <a:buChar char="•"/>
            </a:pPr>
            <a:r>
              <a:rPr lang="fr-FR" sz="1200">
                <a:highlight>
                  <a:srgbClr val="FFFFFF"/>
                </a:highlight>
                <a:latin typeface="Calibri"/>
                <a:ea typeface="Calibri"/>
                <a:cs typeface="Calibri"/>
              </a:rPr>
              <a:t>Différence entre la moyenne et la médiane : L'écart de salaire "réel" pour l'employé type est deux fois plus élevé que ce que laisse paraître la moyenne. La moitié des femmes gagne moins de 31 949 €, alors que la moitié des hommes gagne plus de 34 064 €.</a:t>
            </a:r>
          </a:p>
          <a:p>
            <a:pPr algn="l"/>
            <a:endParaRPr lang="fr-FR"/>
          </a:p>
        </p:txBody>
      </p:sp>
      <p:sp>
        <p:nvSpPr>
          <p:cNvPr id="10" name="Rectangle 9">
            <a:extLst>
              <a:ext uri="{FF2B5EF4-FFF2-40B4-BE49-F238E27FC236}">
                <a16:creationId xmlns:a16="http://schemas.microsoft.com/office/drawing/2014/main" id="{EAF9BFF3-8D20-6309-113E-99760587BDE3}"/>
              </a:ext>
            </a:extLst>
          </p:cNvPr>
          <p:cNvSpPr/>
          <p:nvPr/>
        </p:nvSpPr>
        <p:spPr>
          <a:xfrm>
            <a:off x="251732" y="941597"/>
            <a:ext cx="5548764" cy="57393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0114CDBC-A067-F4EA-21AA-A41D511F4570}"/>
              </a:ext>
            </a:extLst>
          </p:cNvPr>
          <p:cNvSpPr/>
          <p:nvPr/>
        </p:nvSpPr>
        <p:spPr>
          <a:xfrm>
            <a:off x="5980503" y="468790"/>
            <a:ext cx="5548764" cy="573934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82365DD7-4EC0-CDFA-3243-CB5149A22B85}"/>
              </a:ext>
            </a:extLst>
          </p:cNvPr>
          <p:cNvSpPr txBox="1"/>
          <p:nvPr/>
        </p:nvSpPr>
        <p:spPr>
          <a:xfrm>
            <a:off x="6211660" y="625928"/>
            <a:ext cx="343580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600" b="1">
                <a:solidFill>
                  <a:srgbClr val="0F4761"/>
                </a:solidFill>
                <a:highlight>
                  <a:srgbClr val="FFFFFF"/>
                </a:highlight>
                <a:latin typeface="Aptos Display"/>
              </a:rPr>
              <a:t>3 Variables : 2 quanti &amp; 1 </a:t>
            </a:r>
            <a:r>
              <a:rPr lang="fr-FR" sz="1600" b="1" err="1">
                <a:solidFill>
                  <a:srgbClr val="0F4761"/>
                </a:solidFill>
                <a:highlight>
                  <a:srgbClr val="FFFFFF"/>
                </a:highlight>
                <a:latin typeface="Aptos Display"/>
              </a:rPr>
              <a:t>quali</a:t>
            </a:r>
            <a:endParaRPr lang="fr-FR" sz="1600" b="1">
              <a:solidFill>
                <a:srgbClr val="0F4761"/>
              </a:solidFill>
              <a:highlight>
                <a:srgbClr val="FFFFFF"/>
              </a:highlight>
              <a:latin typeface="Aptos Display"/>
            </a:endParaRPr>
          </a:p>
          <a:p>
            <a:pPr algn="l"/>
            <a:endParaRPr lang="fr-FR"/>
          </a:p>
        </p:txBody>
      </p:sp>
      <p:sp>
        <p:nvSpPr>
          <p:cNvPr id="13" name="ZoneTexte 12">
            <a:extLst>
              <a:ext uri="{FF2B5EF4-FFF2-40B4-BE49-F238E27FC236}">
                <a16:creationId xmlns:a16="http://schemas.microsoft.com/office/drawing/2014/main" id="{3DA13454-B735-23E0-775E-B744ABA8E6D8}"/>
              </a:ext>
            </a:extLst>
          </p:cNvPr>
          <p:cNvSpPr txBox="1"/>
          <p:nvPr/>
        </p:nvSpPr>
        <p:spPr>
          <a:xfrm>
            <a:off x="6388553" y="1108982"/>
            <a:ext cx="399222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les variables </a:t>
            </a:r>
            <a:r>
              <a:rPr lang="fr-FR" sz="1200" b="1">
                <a:highlight>
                  <a:srgbClr val="FFFFFF"/>
                </a:highlight>
                <a:latin typeface="Calibri"/>
                <a:ea typeface="Calibri"/>
                <a:cs typeface="Calibri"/>
              </a:rPr>
              <a:t>Genre, l'âge et le Salaire</a:t>
            </a:r>
            <a:endParaRPr lang="fr-FR" sz="1200">
              <a:highlight>
                <a:srgbClr val="FFFFFF"/>
              </a:highlight>
              <a:latin typeface="Calibri"/>
              <a:ea typeface="Calibri"/>
              <a:cs typeface="Calibri"/>
            </a:endParaRPr>
          </a:p>
        </p:txBody>
      </p:sp>
      <p:pic>
        <p:nvPicPr>
          <p:cNvPr id="14" name="Image 13" descr="Une image contenant texte, capture d’écran, diagramme, ligne&#10;&#10;Le contenu généré par l’IA peut être incorrect.">
            <a:extLst>
              <a:ext uri="{FF2B5EF4-FFF2-40B4-BE49-F238E27FC236}">
                <a16:creationId xmlns:a16="http://schemas.microsoft.com/office/drawing/2014/main" id="{A04A14DF-59C1-A215-CD30-FC90D47C6BC8}"/>
              </a:ext>
            </a:extLst>
          </p:cNvPr>
          <p:cNvPicPr>
            <a:picLocks noChangeAspect="1"/>
          </p:cNvPicPr>
          <p:nvPr/>
        </p:nvPicPr>
        <p:blipFill>
          <a:blip r:embed="rId4"/>
          <a:stretch>
            <a:fillRect/>
          </a:stretch>
        </p:blipFill>
        <p:spPr>
          <a:xfrm>
            <a:off x="6962430" y="1473506"/>
            <a:ext cx="3417524" cy="3644746"/>
          </a:xfrm>
          <a:prstGeom prst="rect">
            <a:avLst/>
          </a:prstGeom>
        </p:spPr>
      </p:pic>
      <p:sp>
        <p:nvSpPr>
          <p:cNvPr id="15" name="ZoneTexte 14">
            <a:extLst>
              <a:ext uri="{FF2B5EF4-FFF2-40B4-BE49-F238E27FC236}">
                <a16:creationId xmlns:a16="http://schemas.microsoft.com/office/drawing/2014/main" id="{77F21C53-1F45-6BFF-F2FD-A6029B95D330}"/>
              </a:ext>
            </a:extLst>
          </p:cNvPr>
          <p:cNvSpPr txBox="1"/>
          <p:nvPr/>
        </p:nvSpPr>
        <p:spPr>
          <a:xfrm>
            <a:off x="6131656" y="5252520"/>
            <a:ext cx="507292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a:t>
            </a:r>
            <a:endParaRPr lang="fr-FR" sz="1200">
              <a:solidFill>
                <a:srgbClr val="0F4761"/>
              </a:solidFill>
              <a:highlight>
                <a:srgbClr val="FFFFFF"/>
              </a:highlight>
              <a:latin typeface="Calibri"/>
              <a:ea typeface="Calibri"/>
              <a:cs typeface="Calibri"/>
            </a:endParaRPr>
          </a:p>
          <a:p>
            <a:pPr marL="285750" indent="-285750">
              <a:buFont typeface="Symbol"/>
              <a:buChar char="•"/>
            </a:pPr>
            <a:r>
              <a:rPr lang="fr-FR" sz="1200">
                <a:highlight>
                  <a:srgbClr val="FFFFFF"/>
                </a:highlight>
                <a:latin typeface="Calibri"/>
                <a:ea typeface="Calibri"/>
                <a:cs typeface="Calibri"/>
              </a:rPr>
              <a:t>Le graph montre que l’entreprise fonctionne au mérite hiérarchique plutôt qu'à l'ancienneté. </a:t>
            </a:r>
          </a:p>
          <a:p>
            <a:pPr marL="285750" indent="-285750">
              <a:buFont typeface="Symbol"/>
              <a:buChar char="•"/>
            </a:pPr>
            <a:r>
              <a:rPr lang="fr-FR" sz="1200">
                <a:highlight>
                  <a:srgbClr val="FFFFFF"/>
                </a:highlight>
                <a:latin typeface="Calibri"/>
                <a:ea typeface="Calibri"/>
                <a:cs typeface="Calibri"/>
              </a:rPr>
              <a:t>Il semble que la couleur rouge (femme) diminue un peu en fct du salaire.</a:t>
            </a:r>
          </a:p>
          <a:p>
            <a:pPr algn="l"/>
            <a:endParaRPr lang="fr-FR"/>
          </a:p>
        </p:txBody>
      </p:sp>
    </p:spTree>
    <p:extLst>
      <p:ext uri="{BB962C8B-B14F-4D97-AF65-F5344CB8AC3E}">
        <p14:creationId xmlns:p14="http://schemas.microsoft.com/office/powerpoint/2010/main" val="1546069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8E42D2F6-82E8-296E-863E-93E7735BAD2B}"/>
              </a:ext>
            </a:extLst>
          </p:cNvPr>
          <p:cNvSpPr>
            <a:spLocks noGrp="1"/>
          </p:cNvSpPr>
          <p:nvPr>
            <p:ph type="title"/>
          </p:nvPr>
        </p:nvSpPr>
        <p:spPr>
          <a:xfrm>
            <a:off x="559254" y="283482"/>
            <a:ext cx="10515600" cy="1325563"/>
          </a:xfrm>
        </p:spPr>
        <p:txBody>
          <a:bodyPr>
            <a:normAutofit fontScale="90000"/>
          </a:bodyPr>
          <a:lstStyle/>
          <a:p>
            <a:r>
              <a:rPr lang="fr-FR" sz="2900" b="1" u="sng">
                <a:solidFill>
                  <a:srgbClr val="0F4761"/>
                </a:solidFill>
                <a:highlight>
                  <a:srgbClr val="FFFFFF"/>
                </a:highlight>
              </a:rPr>
              <a:t>Tests statistiques</a:t>
            </a:r>
            <a:br>
              <a:rPr lang="fr-FR" sz="2600" b="1">
                <a:highlight>
                  <a:srgbClr val="FFFFFF"/>
                </a:highlight>
              </a:rPr>
            </a:br>
            <a:br>
              <a:rPr lang="fr-FR" sz="2600" b="1">
                <a:highlight>
                  <a:srgbClr val="FFFFFF"/>
                </a:highlight>
              </a:rPr>
            </a:br>
            <a:r>
              <a:rPr lang="fr-FR" sz="1800" b="1">
                <a:solidFill>
                  <a:srgbClr val="0F4761"/>
                </a:solidFill>
                <a:highlight>
                  <a:srgbClr val="FFFFFF"/>
                </a:highlight>
              </a:rPr>
              <a:t>2 variables qualitatives : test du Chi2</a:t>
            </a:r>
            <a:br>
              <a:rPr lang="fr-FR" sz="1600" b="1">
                <a:solidFill>
                  <a:srgbClr val="0F4761"/>
                </a:solidFill>
                <a:highlight>
                  <a:srgbClr val="FFFFFF"/>
                </a:highlight>
              </a:rPr>
            </a:br>
            <a:br>
              <a:rPr lang="fr-FR" sz="1600" b="1">
                <a:highlight>
                  <a:srgbClr val="FFFFFF"/>
                </a:highlight>
              </a:rPr>
            </a:br>
            <a:endParaRPr lang="fr-FR" sz="1600" b="1">
              <a:solidFill>
                <a:srgbClr val="0F4761"/>
              </a:solidFill>
              <a:highlight>
                <a:srgbClr val="FFFFFF"/>
              </a:highlight>
            </a:endParaRPr>
          </a:p>
        </p:txBody>
      </p:sp>
      <p:sp>
        <p:nvSpPr>
          <p:cNvPr id="7" name="Rectangle 6">
            <a:extLst>
              <a:ext uri="{FF2B5EF4-FFF2-40B4-BE49-F238E27FC236}">
                <a16:creationId xmlns:a16="http://schemas.microsoft.com/office/drawing/2014/main" id="{9C69BF72-79CF-2FD6-3773-9CADF8055CF9}"/>
              </a:ext>
            </a:extLst>
          </p:cNvPr>
          <p:cNvSpPr/>
          <p:nvPr/>
        </p:nvSpPr>
        <p:spPr>
          <a:xfrm>
            <a:off x="449035" y="853151"/>
            <a:ext cx="10841942" cy="518145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96AEEB79-981B-A870-104A-A693F8CDC454}"/>
              </a:ext>
            </a:extLst>
          </p:cNvPr>
          <p:cNvSpPr txBox="1"/>
          <p:nvPr/>
        </p:nvSpPr>
        <p:spPr>
          <a:xfrm>
            <a:off x="557892" y="1558018"/>
            <a:ext cx="829355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Nous analyserons les variables </a:t>
            </a:r>
            <a:r>
              <a:rPr lang="fr-FR" sz="1200" b="1">
                <a:highlight>
                  <a:srgbClr val="FFFFFF"/>
                </a:highlight>
                <a:latin typeface="Calibri"/>
                <a:ea typeface="Calibri"/>
                <a:cs typeface="Calibri"/>
              </a:rPr>
              <a:t>Statut managérial </a:t>
            </a:r>
            <a:r>
              <a:rPr lang="fr-FR" sz="1200">
                <a:highlight>
                  <a:srgbClr val="FFFFFF"/>
                </a:highlight>
                <a:latin typeface="Calibri"/>
                <a:ea typeface="Calibri"/>
                <a:cs typeface="Calibri"/>
              </a:rPr>
              <a:t>et</a:t>
            </a:r>
            <a:r>
              <a:rPr lang="fr-FR" sz="1200" b="1">
                <a:highlight>
                  <a:srgbClr val="FFFFFF"/>
                </a:highlight>
                <a:latin typeface="Calibri"/>
                <a:ea typeface="Calibri"/>
                <a:cs typeface="Calibri"/>
              </a:rPr>
              <a:t> Niveau hiérarchique avec </a:t>
            </a:r>
            <a:r>
              <a:rPr lang="fr-FR" sz="1200" b="1" u="sng">
                <a:highlight>
                  <a:srgbClr val="FFFFFF"/>
                </a:highlight>
                <a:latin typeface="Calibri"/>
                <a:ea typeface="Calibri"/>
                <a:cs typeface="Calibri"/>
              </a:rPr>
              <a:t>le test de Chi2</a:t>
            </a:r>
            <a:endParaRPr lang="fr-FR" sz="1200">
              <a:highlight>
                <a:srgbClr val="FFFFFF"/>
              </a:highlight>
              <a:latin typeface="Calibri"/>
              <a:ea typeface="Calibri"/>
              <a:cs typeface="Calibri"/>
            </a:endParaRPr>
          </a:p>
          <a:p>
            <a:pPr marL="285750" indent="-285750">
              <a:buFont typeface="Symbol"/>
              <a:buChar char="•"/>
            </a:pPr>
            <a:r>
              <a:rPr lang="fr-FR" sz="1200" b="1">
                <a:highlight>
                  <a:srgbClr val="FFFFFF"/>
                </a:highlight>
                <a:latin typeface="Calibri"/>
                <a:ea typeface="Calibri"/>
                <a:cs typeface="Calibri"/>
              </a:rPr>
              <a:t>H0 (Hypothèse nulle) :</a:t>
            </a:r>
            <a:r>
              <a:rPr lang="fr-FR" sz="1200">
                <a:highlight>
                  <a:srgbClr val="FFFFFF"/>
                </a:highlight>
                <a:latin typeface="Calibri"/>
                <a:ea typeface="Calibri"/>
                <a:cs typeface="Calibri"/>
              </a:rPr>
              <a:t> Le statut de manager et le niveau hiérarchique sont </a:t>
            </a:r>
            <a:r>
              <a:rPr lang="fr-FR" sz="1200" b="1">
                <a:highlight>
                  <a:srgbClr val="FFFFFF"/>
                </a:highlight>
                <a:latin typeface="Calibri"/>
                <a:ea typeface="Calibri"/>
                <a:cs typeface="Calibri"/>
              </a:rPr>
              <a:t>indépendants</a:t>
            </a:r>
            <a:r>
              <a:rPr lang="fr-FR" sz="1200">
                <a:highlight>
                  <a:srgbClr val="FFFFFF"/>
                </a:highlight>
                <a:latin typeface="Calibri"/>
                <a:ea typeface="Calibri"/>
                <a:cs typeface="Calibri"/>
              </a:rPr>
              <a:t>.</a:t>
            </a:r>
          </a:p>
          <a:p>
            <a:pPr marL="285750" indent="-285750">
              <a:buFont typeface="Symbol"/>
              <a:buChar char="•"/>
            </a:pPr>
            <a:r>
              <a:rPr lang="fr-FR" sz="1200" b="1">
                <a:highlight>
                  <a:srgbClr val="FFFFFF"/>
                </a:highlight>
                <a:latin typeface="Calibri"/>
                <a:ea typeface="Calibri"/>
                <a:cs typeface="Calibri"/>
              </a:rPr>
              <a:t>H1 (Hypothèse alternative) :</a:t>
            </a:r>
            <a:r>
              <a:rPr lang="fr-FR" sz="1200">
                <a:highlight>
                  <a:srgbClr val="FFFFFF"/>
                </a:highlight>
                <a:latin typeface="Calibri"/>
                <a:ea typeface="Calibri"/>
                <a:cs typeface="Calibri"/>
              </a:rPr>
              <a:t> Il existe une </a:t>
            </a:r>
            <a:r>
              <a:rPr lang="fr-FR" sz="1200" b="1">
                <a:highlight>
                  <a:srgbClr val="FFFFFF"/>
                </a:highlight>
                <a:latin typeface="Calibri"/>
                <a:ea typeface="Calibri"/>
                <a:cs typeface="Calibri"/>
              </a:rPr>
              <a:t>dépendance</a:t>
            </a:r>
            <a:r>
              <a:rPr lang="fr-FR" sz="1200">
                <a:highlight>
                  <a:srgbClr val="FFFFFF"/>
                </a:highlight>
                <a:latin typeface="Calibri"/>
                <a:ea typeface="Calibri"/>
                <a:cs typeface="Calibri"/>
              </a:rPr>
              <a:t> entre le statut de manager et le niveau hiérarchique.</a:t>
            </a:r>
          </a:p>
          <a:p>
            <a:pPr algn="l"/>
            <a:endParaRPr lang="fr-FR"/>
          </a:p>
        </p:txBody>
      </p:sp>
      <p:pic>
        <p:nvPicPr>
          <p:cNvPr id="9" name="Image 8" descr="Une image contenant Police, texte, blanc, nombre&#10;&#10;Le contenu généré par l’IA peut être incorrect.">
            <a:extLst>
              <a:ext uri="{FF2B5EF4-FFF2-40B4-BE49-F238E27FC236}">
                <a16:creationId xmlns:a16="http://schemas.microsoft.com/office/drawing/2014/main" id="{52FD3BBF-2D0A-8924-0578-CC304DD99D63}"/>
              </a:ext>
            </a:extLst>
          </p:cNvPr>
          <p:cNvPicPr>
            <a:picLocks noChangeAspect="1"/>
          </p:cNvPicPr>
          <p:nvPr/>
        </p:nvPicPr>
        <p:blipFill>
          <a:blip r:embed="rId3"/>
          <a:stretch>
            <a:fillRect/>
          </a:stretch>
        </p:blipFill>
        <p:spPr>
          <a:xfrm>
            <a:off x="1507671" y="3024868"/>
            <a:ext cx="3543300" cy="1066800"/>
          </a:xfrm>
          <a:prstGeom prst="rect">
            <a:avLst/>
          </a:prstGeom>
        </p:spPr>
      </p:pic>
      <p:sp>
        <p:nvSpPr>
          <p:cNvPr id="10" name="ZoneTexte 9">
            <a:extLst>
              <a:ext uri="{FF2B5EF4-FFF2-40B4-BE49-F238E27FC236}">
                <a16:creationId xmlns:a16="http://schemas.microsoft.com/office/drawing/2014/main" id="{0BBB8236-ED89-F6C2-CAD8-E8F41AC7790B}"/>
              </a:ext>
            </a:extLst>
          </p:cNvPr>
          <p:cNvSpPr txBox="1"/>
          <p:nvPr/>
        </p:nvSpPr>
        <p:spPr>
          <a:xfrm>
            <a:off x="632731" y="2666999"/>
            <a:ext cx="312283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a:t>Tableau de contingence</a:t>
            </a:r>
          </a:p>
        </p:txBody>
      </p:sp>
      <p:sp>
        <p:nvSpPr>
          <p:cNvPr id="11" name="ZoneTexte 10">
            <a:extLst>
              <a:ext uri="{FF2B5EF4-FFF2-40B4-BE49-F238E27FC236}">
                <a16:creationId xmlns:a16="http://schemas.microsoft.com/office/drawing/2014/main" id="{819D78E4-F727-6ED3-7E14-BFF70FAAB53A}"/>
              </a:ext>
            </a:extLst>
          </p:cNvPr>
          <p:cNvSpPr txBox="1"/>
          <p:nvPr/>
        </p:nvSpPr>
        <p:spPr>
          <a:xfrm>
            <a:off x="449037" y="4898570"/>
            <a:ext cx="891948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a:t>
            </a:r>
            <a:endParaRPr lang="fr-FR" sz="1200">
              <a:solidFill>
                <a:srgbClr val="0F4761"/>
              </a:solidFill>
              <a:highlight>
                <a:srgbClr val="FFFFFF"/>
              </a:highlight>
              <a:latin typeface="Calibri"/>
              <a:ea typeface="Calibri"/>
              <a:cs typeface="Calibri"/>
            </a:endParaRPr>
          </a:p>
          <a:p>
            <a:pPr marL="285750" indent="-285750">
              <a:buFont typeface="Symbol"/>
              <a:buChar char="•"/>
            </a:pPr>
            <a:r>
              <a:rPr lang="fr-FR" sz="1200" b="1">
                <a:highlight>
                  <a:srgbClr val="FFFFFF"/>
                </a:highlight>
                <a:latin typeface="Calibri"/>
                <a:ea typeface="Calibri"/>
                <a:cs typeface="Calibri"/>
              </a:rPr>
              <a:t>La p-value (0.0004998)</a:t>
            </a:r>
            <a:r>
              <a:rPr lang="fr-FR" sz="1200">
                <a:highlight>
                  <a:srgbClr val="FFFFFF"/>
                </a:highlight>
                <a:latin typeface="Calibri"/>
                <a:ea typeface="Calibri"/>
                <a:cs typeface="Calibri"/>
              </a:rPr>
              <a:t> est très largement inférieure au seuil de 0,05. On rejette l'hypothèse d'indépendance. La relation est significative. Il existe un lien statistique très fort entre le niveau hiérarchique et le statut de manager. Ce n'est pas le fruit du hasard ! </a:t>
            </a:r>
          </a:p>
          <a:p>
            <a:pPr marL="285750" indent="-285750">
              <a:buFont typeface="Symbol"/>
              <a:buChar char="•"/>
            </a:pPr>
            <a:r>
              <a:rPr lang="fr-FR" sz="1200">
                <a:highlight>
                  <a:srgbClr val="FFFFFF"/>
                </a:highlight>
                <a:latin typeface="Calibri"/>
                <a:ea typeface="Calibri"/>
                <a:cs typeface="Calibri"/>
              </a:rPr>
              <a:t>L'analyse démontre une segmentation nette de l'organisation : le management est une fonction exclusivement réservée aux cadres de niveaux supérieurs (à partir du niveau 4)</a:t>
            </a:r>
          </a:p>
          <a:p>
            <a:pPr algn="l"/>
            <a:endParaRPr lang="fr-FR"/>
          </a:p>
        </p:txBody>
      </p:sp>
    </p:spTree>
    <p:extLst>
      <p:ext uri="{BB962C8B-B14F-4D97-AF65-F5344CB8AC3E}">
        <p14:creationId xmlns:p14="http://schemas.microsoft.com/office/powerpoint/2010/main" val="481932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6BC5E-82FB-531D-7802-B99CEFB1A44F}"/>
            </a:ext>
          </a:extLst>
        </p:cNvPr>
        <p:cNvGrpSpPr/>
        <p:nvPr/>
      </p:nvGrpSpPr>
      <p:grpSpPr>
        <a:xfrm>
          <a:off x="0" y="0"/>
          <a:ext cx="0" cy="0"/>
          <a:chOff x="0" y="0"/>
          <a:chExt cx="0" cy="0"/>
        </a:xfrm>
      </p:grpSpPr>
      <p:sp>
        <p:nvSpPr>
          <p:cNvPr id="5" name="Titre 1">
            <a:extLst>
              <a:ext uri="{FF2B5EF4-FFF2-40B4-BE49-F238E27FC236}">
                <a16:creationId xmlns:a16="http://schemas.microsoft.com/office/drawing/2014/main" id="{3AFD9171-2E5F-279C-F2F1-260E70B35358}"/>
              </a:ext>
            </a:extLst>
          </p:cNvPr>
          <p:cNvSpPr>
            <a:spLocks noGrp="1"/>
          </p:cNvSpPr>
          <p:nvPr>
            <p:ph type="title"/>
          </p:nvPr>
        </p:nvSpPr>
        <p:spPr>
          <a:xfrm>
            <a:off x="559254" y="283482"/>
            <a:ext cx="10515600" cy="1325563"/>
          </a:xfrm>
        </p:spPr>
        <p:txBody>
          <a:bodyPr>
            <a:normAutofit fontScale="90000"/>
          </a:bodyPr>
          <a:lstStyle/>
          <a:p>
            <a:r>
              <a:rPr lang="fr-FR" sz="2900" b="1" u="sng">
                <a:solidFill>
                  <a:srgbClr val="0F4761"/>
                </a:solidFill>
                <a:highlight>
                  <a:srgbClr val="FFFFFF"/>
                </a:highlight>
              </a:rPr>
              <a:t>Tests statistiques</a:t>
            </a:r>
            <a:br>
              <a:rPr lang="fr-FR" sz="2600" b="1">
                <a:highlight>
                  <a:srgbClr val="FFFFFF"/>
                </a:highlight>
              </a:rPr>
            </a:br>
            <a:br>
              <a:rPr lang="fr-FR" sz="2600" b="1">
                <a:highlight>
                  <a:srgbClr val="FFFFFF"/>
                </a:highlight>
              </a:rPr>
            </a:br>
            <a:r>
              <a:rPr lang="fr-FR" sz="1800" b="1">
                <a:solidFill>
                  <a:srgbClr val="0F4761"/>
                </a:solidFill>
                <a:highlight>
                  <a:srgbClr val="FFFFFF"/>
                </a:highlight>
              </a:rPr>
              <a:t>2 variables une qualitative une quantitative: test de </a:t>
            </a:r>
            <a:r>
              <a:rPr lang="fr-FR" sz="1800" b="1" err="1">
                <a:solidFill>
                  <a:srgbClr val="0F4761"/>
                </a:solidFill>
                <a:highlight>
                  <a:srgbClr val="FFFFFF"/>
                </a:highlight>
              </a:rPr>
              <a:t>Student</a:t>
            </a:r>
            <a:br>
              <a:rPr lang="fr-FR" sz="1600" b="1">
                <a:highlight>
                  <a:srgbClr val="FFFFFF"/>
                </a:highlight>
              </a:rPr>
            </a:br>
            <a:br>
              <a:rPr lang="fr-FR" sz="1600" b="1">
                <a:highlight>
                  <a:srgbClr val="FFFFFF"/>
                </a:highlight>
              </a:rPr>
            </a:br>
            <a:endParaRPr lang="fr-FR" sz="1600" b="1">
              <a:solidFill>
                <a:srgbClr val="0F4761"/>
              </a:solidFill>
              <a:highlight>
                <a:srgbClr val="FFFFFF"/>
              </a:highlight>
            </a:endParaRPr>
          </a:p>
        </p:txBody>
      </p:sp>
      <p:sp>
        <p:nvSpPr>
          <p:cNvPr id="7" name="Rectangle 6">
            <a:extLst>
              <a:ext uri="{FF2B5EF4-FFF2-40B4-BE49-F238E27FC236}">
                <a16:creationId xmlns:a16="http://schemas.microsoft.com/office/drawing/2014/main" id="{C8F56A54-A59E-61C9-D0B6-9D68C88D18DE}"/>
              </a:ext>
            </a:extLst>
          </p:cNvPr>
          <p:cNvSpPr/>
          <p:nvPr/>
        </p:nvSpPr>
        <p:spPr>
          <a:xfrm>
            <a:off x="449035" y="939415"/>
            <a:ext cx="10841942" cy="518145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fr-FR"/>
          </a:p>
        </p:txBody>
      </p:sp>
      <p:sp>
        <p:nvSpPr>
          <p:cNvPr id="8" name="ZoneTexte 7">
            <a:extLst>
              <a:ext uri="{FF2B5EF4-FFF2-40B4-BE49-F238E27FC236}">
                <a16:creationId xmlns:a16="http://schemas.microsoft.com/office/drawing/2014/main" id="{4B856C0F-AE26-DE50-64A6-BF9142A7F22E}"/>
              </a:ext>
            </a:extLst>
          </p:cNvPr>
          <p:cNvSpPr txBox="1"/>
          <p:nvPr/>
        </p:nvSpPr>
        <p:spPr>
          <a:xfrm>
            <a:off x="557892" y="1558018"/>
            <a:ext cx="8293552"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100">
                <a:highlight>
                  <a:srgbClr val="FFFFFF"/>
                </a:highlight>
                <a:latin typeface="Calibri"/>
                <a:ea typeface="Calibri"/>
                <a:cs typeface="Calibri"/>
              </a:rPr>
              <a:t>Nous analyserons </a:t>
            </a:r>
            <a:r>
              <a:rPr lang="fr-FR" sz="1100" b="1">
                <a:highlight>
                  <a:srgbClr val="FFFFFF"/>
                </a:highlight>
                <a:latin typeface="Calibri"/>
                <a:ea typeface="Calibri"/>
                <a:cs typeface="Calibri"/>
              </a:rPr>
              <a:t>Genre </a:t>
            </a:r>
            <a:r>
              <a:rPr lang="fr-FR" sz="1100">
                <a:highlight>
                  <a:srgbClr val="FFFFFF"/>
                </a:highlight>
                <a:latin typeface="Calibri"/>
                <a:ea typeface="Calibri"/>
                <a:cs typeface="Calibri"/>
              </a:rPr>
              <a:t>et S</a:t>
            </a:r>
            <a:r>
              <a:rPr lang="fr-FR" sz="1100" b="1">
                <a:highlight>
                  <a:srgbClr val="FFFFFF"/>
                </a:highlight>
                <a:latin typeface="Calibri"/>
                <a:ea typeface="Calibri"/>
                <a:cs typeface="Calibri"/>
              </a:rPr>
              <a:t>alaire </a:t>
            </a:r>
            <a:r>
              <a:rPr lang="fr-FR" sz="1100">
                <a:highlight>
                  <a:srgbClr val="FFFFFF"/>
                </a:highlight>
                <a:latin typeface="Calibri"/>
                <a:ea typeface="Calibri"/>
                <a:cs typeface="Calibri"/>
              </a:rPr>
              <a:t>avec le </a:t>
            </a:r>
            <a:r>
              <a:rPr lang="fr-FR" sz="1100" b="1">
                <a:highlight>
                  <a:srgbClr val="FFFFFF"/>
                </a:highlight>
                <a:latin typeface="Calibri"/>
                <a:ea typeface="Calibri"/>
                <a:cs typeface="Calibri"/>
              </a:rPr>
              <a:t>T </a:t>
            </a:r>
            <a:r>
              <a:rPr lang="fr-FR" sz="1100" b="1" err="1">
                <a:highlight>
                  <a:srgbClr val="FFFFFF"/>
                </a:highlight>
                <a:latin typeface="Calibri"/>
                <a:ea typeface="Calibri"/>
                <a:cs typeface="Calibri"/>
              </a:rPr>
              <a:t>student</a:t>
            </a:r>
            <a:r>
              <a:rPr lang="fr-FR" sz="1100" b="1">
                <a:highlight>
                  <a:srgbClr val="FFFFFF"/>
                </a:highlight>
                <a:latin typeface="Calibri"/>
                <a:ea typeface="Calibri"/>
                <a:cs typeface="Calibri"/>
              </a:rPr>
              <a:t> </a:t>
            </a:r>
            <a:r>
              <a:rPr lang="fr-FR" sz="1100">
                <a:highlight>
                  <a:srgbClr val="FFFFFF"/>
                </a:highlight>
                <a:latin typeface="Calibri"/>
                <a:ea typeface="Calibri"/>
                <a:cs typeface="Calibri"/>
              </a:rPr>
              <a:t>pour comprendre l’impact du genre sur le salaire moyen</a:t>
            </a:r>
            <a:r>
              <a:rPr lang="fr-FR" sz="1100" b="1">
                <a:highlight>
                  <a:srgbClr val="FFFFFF"/>
                </a:highlight>
                <a:latin typeface="Calibri"/>
                <a:ea typeface="Calibri"/>
                <a:cs typeface="Calibri"/>
              </a:rPr>
              <a:t>: </a:t>
            </a:r>
            <a:endParaRPr lang="fr-FR" sz="1100">
              <a:highlight>
                <a:srgbClr val="FFFFFF"/>
              </a:highlight>
              <a:latin typeface="Calibri"/>
              <a:ea typeface="Calibri"/>
              <a:cs typeface="Calibri"/>
            </a:endParaRPr>
          </a:p>
          <a:p>
            <a:r>
              <a:rPr lang="fr-FR" sz="1200" b="1">
                <a:highlight>
                  <a:srgbClr val="FFFFFF"/>
                </a:highlight>
                <a:latin typeface="Calibri"/>
                <a:ea typeface="Calibri"/>
                <a:cs typeface="Calibri"/>
              </a:rPr>
              <a:t>H0 : </a:t>
            </a:r>
            <a:r>
              <a:rPr lang="fr-FR" sz="1200">
                <a:highlight>
                  <a:srgbClr val="FFFFFF"/>
                </a:highlight>
                <a:latin typeface="Calibri"/>
                <a:ea typeface="Calibri"/>
                <a:cs typeface="Calibri"/>
              </a:rPr>
              <a:t>Le salaire moyen est identique pour les hommes et les femmes</a:t>
            </a:r>
          </a:p>
          <a:p>
            <a:r>
              <a:rPr lang="fr-FR" sz="1200" b="1">
                <a:highlight>
                  <a:srgbClr val="FFFFFF"/>
                </a:highlight>
                <a:latin typeface="Calibri"/>
                <a:ea typeface="Calibri"/>
                <a:cs typeface="Calibri"/>
              </a:rPr>
              <a:t>H1 : </a:t>
            </a:r>
            <a:r>
              <a:rPr lang="fr-FR" sz="1200">
                <a:highlight>
                  <a:srgbClr val="FFFFFF"/>
                </a:highlight>
                <a:latin typeface="Calibri"/>
                <a:ea typeface="Calibri"/>
                <a:cs typeface="Calibri"/>
              </a:rPr>
              <a:t>Le salaire diffère selon le genre</a:t>
            </a:r>
          </a:p>
          <a:p>
            <a:endParaRPr lang="fr-FR" sz="1100">
              <a:highlight>
                <a:srgbClr val="FFFFFF"/>
              </a:highlight>
              <a:latin typeface="Calibri"/>
              <a:ea typeface="Calibri"/>
              <a:cs typeface="Calibri"/>
            </a:endParaRPr>
          </a:p>
          <a:p>
            <a:endParaRPr lang="fr-FR" sz="1100">
              <a:highlight>
                <a:srgbClr val="FFFFFF"/>
              </a:highlight>
              <a:latin typeface="Calibri"/>
              <a:ea typeface="Calibri"/>
              <a:cs typeface="Calibri"/>
            </a:endParaRPr>
          </a:p>
          <a:p>
            <a:endParaRPr lang="fr-FR">
              <a:latin typeface="Aptos" panose="020B0004020202020204"/>
              <a:ea typeface="Calibri"/>
              <a:cs typeface="Calibri"/>
            </a:endParaRPr>
          </a:p>
        </p:txBody>
      </p:sp>
      <p:sp>
        <p:nvSpPr>
          <p:cNvPr id="11" name="ZoneTexte 10">
            <a:extLst>
              <a:ext uri="{FF2B5EF4-FFF2-40B4-BE49-F238E27FC236}">
                <a16:creationId xmlns:a16="http://schemas.microsoft.com/office/drawing/2014/main" id="{DE56874B-DC60-D251-1B25-4E633D9D612A}"/>
              </a:ext>
            </a:extLst>
          </p:cNvPr>
          <p:cNvSpPr txBox="1"/>
          <p:nvPr/>
        </p:nvSpPr>
        <p:spPr>
          <a:xfrm>
            <a:off x="449037" y="4510382"/>
            <a:ext cx="891948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u="sng">
                <a:solidFill>
                  <a:srgbClr val="0F4761"/>
                </a:solidFill>
                <a:highlight>
                  <a:srgbClr val="FFFFFF"/>
                </a:highlight>
                <a:latin typeface="Calibri"/>
                <a:ea typeface="Calibri"/>
                <a:cs typeface="Calibri"/>
              </a:rPr>
              <a:t>Interprétation</a:t>
            </a:r>
            <a:r>
              <a:rPr lang="fr-FR" sz="1200" b="1">
                <a:solidFill>
                  <a:srgbClr val="0F4761"/>
                </a:solidFill>
                <a:highlight>
                  <a:srgbClr val="FFFFFF"/>
                </a:highlight>
                <a:latin typeface="Calibri"/>
                <a:ea typeface="Calibri"/>
                <a:cs typeface="Calibri"/>
              </a:rPr>
              <a:t> :</a:t>
            </a:r>
            <a:endParaRPr lang="fr-FR" sz="1200">
              <a:solidFill>
                <a:srgbClr val="0F4761"/>
              </a:solidFill>
              <a:highlight>
                <a:srgbClr val="FFFFFF"/>
              </a:highlight>
              <a:latin typeface="Calibri"/>
              <a:ea typeface="Calibri"/>
              <a:cs typeface="Calibri"/>
            </a:endParaRPr>
          </a:p>
          <a:p>
            <a:pPr>
              <a:buFont typeface="Symbol"/>
              <a:buChar char="•"/>
            </a:pPr>
            <a:r>
              <a:rPr lang="fr-FR" sz="1200">
                <a:highlight>
                  <a:srgbClr val="FFFFFF"/>
                </a:highlight>
                <a:latin typeface="Calibri"/>
                <a:ea typeface="Calibri"/>
                <a:cs typeface="Calibri"/>
              </a:rPr>
              <a:t>p-value = 0.3661 &gt; α (0.05) </a:t>
            </a:r>
            <a:endParaRPr lang="fr-FR" sz="1200"/>
          </a:p>
          <a:p>
            <a:pPr algn="ctr"/>
            <a:endParaRPr lang="fr-FR" sz="1200">
              <a:highlight>
                <a:srgbClr val="FFFFFF"/>
              </a:highlight>
              <a:latin typeface="STIXGeneral-Regular"/>
              <a:ea typeface="Calibri"/>
              <a:cs typeface="Calibri"/>
            </a:endParaRPr>
          </a:p>
          <a:p>
            <a:pPr>
              <a:buFont typeface="Arial"/>
              <a:buChar char="•"/>
            </a:pPr>
            <a:r>
              <a:rPr lang="fr-FR" sz="1200" b="1">
                <a:highlight>
                  <a:srgbClr val="FFFFFF"/>
                </a:highlight>
                <a:latin typeface="Calibri"/>
                <a:ea typeface="Calibri"/>
                <a:cs typeface="Calibri"/>
              </a:rPr>
              <a:t>Non rejet de H0</a:t>
            </a:r>
            <a:endParaRPr lang="fr-FR" sz="1200">
              <a:highlight>
                <a:srgbClr val="FFFFFF"/>
              </a:highlight>
              <a:latin typeface="Calibri"/>
              <a:ea typeface="Calibri"/>
              <a:cs typeface="Calibri"/>
            </a:endParaRPr>
          </a:p>
          <a:p>
            <a:pPr>
              <a:buFont typeface="Symbol"/>
              <a:buChar char="•"/>
            </a:pPr>
            <a:r>
              <a:rPr lang="fr-FR" sz="1200">
                <a:highlight>
                  <a:srgbClr val="FFFFFF"/>
                </a:highlight>
                <a:latin typeface="Calibri"/>
                <a:ea typeface="Calibri"/>
                <a:cs typeface="Calibri"/>
              </a:rPr>
              <a:t>Le test de </a:t>
            </a:r>
            <a:r>
              <a:rPr lang="fr-FR" sz="1200" err="1">
                <a:highlight>
                  <a:srgbClr val="FFFFFF"/>
                </a:highlight>
                <a:latin typeface="Calibri"/>
                <a:ea typeface="Calibri"/>
                <a:cs typeface="Calibri"/>
              </a:rPr>
              <a:t>Student</a:t>
            </a:r>
            <a:r>
              <a:rPr lang="fr-FR" sz="1200">
                <a:highlight>
                  <a:srgbClr val="FFFFFF"/>
                </a:highlight>
                <a:latin typeface="Calibri"/>
                <a:ea typeface="Calibri"/>
                <a:cs typeface="Calibri"/>
              </a:rPr>
              <a:t> </a:t>
            </a:r>
            <a:r>
              <a:rPr lang="fr-FR" sz="1200" b="1">
                <a:highlight>
                  <a:srgbClr val="FFFFFF"/>
                </a:highlight>
                <a:latin typeface="Calibri"/>
                <a:ea typeface="Calibri"/>
                <a:cs typeface="Calibri"/>
              </a:rPr>
              <a:t>ne permet pas de rejeter l’hypothèse d’égalité des salaires moyens entre femmes et hommes </a:t>
            </a:r>
            <a:r>
              <a:rPr lang="fr-FR" sz="1200">
                <a:highlight>
                  <a:srgbClr val="FFFFFF"/>
                </a:highlight>
                <a:latin typeface="Calibri"/>
                <a:ea typeface="Calibri"/>
                <a:cs typeface="Calibri"/>
              </a:rPr>
              <a:t>(p&gt;0.05). </a:t>
            </a:r>
          </a:p>
          <a:p>
            <a:pPr>
              <a:buFont typeface="Symbol"/>
              <a:buChar char="•"/>
            </a:pPr>
            <a:r>
              <a:rPr lang="fr-FR" sz="1200">
                <a:highlight>
                  <a:srgbClr val="FFFFFF"/>
                </a:highlight>
                <a:latin typeface="Calibri"/>
                <a:ea typeface="Calibri"/>
                <a:cs typeface="Calibri"/>
              </a:rPr>
              <a:t>L’écart moyen observé entre les salaires féminins et masculins est de 3.24% ((salaire moyen homme – salaire moyen femme) / salaire moyen homme), il n’est pas statistiquement significatif dans cette analyse globale non conditionnelle.</a:t>
            </a:r>
          </a:p>
          <a:p>
            <a:pPr marL="285750" indent="-285750" algn="l">
              <a:buFont typeface="Symbol"/>
              <a:buChar char="•"/>
            </a:pPr>
            <a:endParaRPr lang="fr-FR" sz="1200">
              <a:highlight>
                <a:srgbClr val="FFFFFF"/>
              </a:highlight>
              <a:latin typeface="Calibri"/>
              <a:ea typeface="Calibri"/>
              <a:cs typeface="Calibri"/>
            </a:endParaRPr>
          </a:p>
        </p:txBody>
      </p:sp>
      <p:sp>
        <p:nvSpPr>
          <p:cNvPr id="13" name="ZoneTexte 12">
            <a:extLst>
              <a:ext uri="{FF2B5EF4-FFF2-40B4-BE49-F238E27FC236}">
                <a16:creationId xmlns:a16="http://schemas.microsoft.com/office/drawing/2014/main" id="{F5F9387F-B620-F2D4-B780-7D74AE4D1463}"/>
              </a:ext>
            </a:extLst>
          </p:cNvPr>
          <p:cNvSpPr txBox="1"/>
          <p:nvPr/>
        </p:nvSpPr>
        <p:spPr>
          <a:xfrm>
            <a:off x="454963" y="4212885"/>
            <a:ext cx="994625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err="1">
                <a:solidFill>
                  <a:srgbClr val="526078"/>
                </a:solidFill>
                <a:latin typeface="Helvetica"/>
                <a:cs typeface="Helvetica"/>
              </a:rPr>
              <a:t>Moyennes</a:t>
            </a:r>
            <a:r>
              <a:rPr lang="en-US" sz="1400">
                <a:solidFill>
                  <a:srgbClr val="526078"/>
                </a:solidFill>
                <a:latin typeface="Helvetica"/>
                <a:cs typeface="Helvetica"/>
              </a:rPr>
              <a:t> : FEMME = 37 049,54 €  |  HOMME = </a:t>
            </a:r>
            <a:r>
              <a:rPr lang="en-US" sz="1200">
                <a:solidFill>
                  <a:srgbClr val="526078"/>
                </a:solidFill>
                <a:latin typeface="Helvetica"/>
                <a:cs typeface="Helvetica"/>
              </a:rPr>
              <a:t>38</a:t>
            </a:r>
            <a:r>
              <a:rPr lang="en-US" sz="1400">
                <a:solidFill>
                  <a:srgbClr val="526078"/>
                </a:solidFill>
                <a:latin typeface="Helvetica"/>
                <a:cs typeface="Helvetica"/>
              </a:rPr>
              <a:t> 289,11 €  |  </a:t>
            </a:r>
            <a:r>
              <a:rPr lang="en-US" sz="1400" err="1">
                <a:solidFill>
                  <a:srgbClr val="526078"/>
                </a:solidFill>
                <a:latin typeface="Helvetica"/>
                <a:cs typeface="Helvetica"/>
              </a:rPr>
              <a:t>Écart</a:t>
            </a:r>
            <a:r>
              <a:rPr lang="en-US" sz="1400">
                <a:solidFill>
                  <a:srgbClr val="526078"/>
                </a:solidFill>
                <a:latin typeface="Helvetica"/>
                <a:cs typeface="Helvetica"/>
              </a:rPr>
              <a:t> =</a:t>
            </a:r>
            <a:r>
              <a:rPr lang="en-US" sz="1400" b="1">
                <a:solidFill>
                  <a:srgbClr val="526078"/>
                </a:solidFill>
                <a:latin typeface="Helvetica"/>
                <a:cs typeface="Helvetica"/>
              </a:rPr>
              <a:t> 3,24%</a:t>
            </a:r>
            <a:endParaRPr lang="fr-FR" sz="1400" b="1">
              <a:latin typeface="Helvetica"/>
              <a:cs typeface="Helvetica"/>
            </a:endParaRPr>
          </a:p>
        </p:txBody>
      </p:sp>
      <p:sp>
        <p:nvSpPr>
          <p:cNvPr id="14" name="ZoneTexte 13">
            <a:extLst>
              <a:ext uri="{FF2B5EF4-FFF2-40B4-BE49-F238E27FC236}">
                <a16:creationId xmlns:a16="http://schemas.microsoft.com/office/drawing/2014/main" id="{0939E416-53C4-422D-43AC-5876D6B1F56C}"/>
              </a:ext>
            </a:extLst>
          </p:cNvPr>
          <p:cNvSpPr txBox="1"/>
          <p:nvPr/>
        </p:nvSpPr>
        <p:spPr>
          <a:xfrm>
            <a:off x="460076" y="3083945"/>
            <a:ext cx="60816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err="1">
                <a:solidFill>
                  <a:srgbClr val="171E2D"/>
                </a:solidFill>
                <a:latin typeface="Helvetica"/>
                <a:ea typeface="Helvetica"/>
                <a:cs typeface="Helvetica"/>
              </a:rPr>
              <a:t>Résultats</a:t>
            </a:r>
            <a:r>
              <a:rPr lang="en-US" b="1" i="0">
                <a:solidFill>
                  <a:srgbClr val="171E2D"/>
                </a:solidFill>
                <a:latin typeface="Helvetica"/>
                <a:ea typeface="Helvetica"/>
                <a:cs typeface="Helvetica"/>
              </a:rPr>
              <a:t> du Test de Student</a:t>
            </a:r>
          </a:p>
        </p:txBody>
      </p:sp>
      <p:sp>
        <p:nvSpPr>
          <p:cNvPr id="15" name="ZoneTexte 14">
            <a:extLst>
              <a:ext uri="{FF2B5EF4-FFF2-40B4-BE49-F238E27FC236}">
                <a16:creationId xmlns:a16="http://schemas.microsoft.com/office/drawing/2014/main" id="{BC7AA180-14E1-B498-E410-ED1BCF3EC905}"/>
              </a:ext>
            </a:extLst>
          </p:cNvPr>
          <p:cNvSpPr txBox="1"/>
          <p:nvPr/>
        </p:nvSpPr>
        <p:spPr>
          <a:xfrm>
            <a:off x="447296" y="2292070"/>
            <a:ext cx="587746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b="1">
                <a:solidFill>
                  <a:srgbClr val="171E2D"/>
                </a:solidFill>
                <a:latin typeface="Helvetica"/>
                <a:cs typeface="Helvetica"/>
              </a:rPr>
              <a:t>Vérification des conditions</a:t>
            </a:r>
            <a:endParaRPr lang="fr-FR" sz="1400">
              <a:latin typeface="Helvetica"/>
              <a:cs typeface="Helvetica"/>
            </a:endParaRPr>
          </a:p>
        </p:txBody>
      </p:sp>
      <p:sp>
        <p:nvSpPr>
          <p:cNvPr id="16" name="ZoneTexte 15">
            <a:extLst>
              <a:ext uri="{FF2B5EF4-FFF2-40B4-BE49-F238E27FC236}">
                <a16:creationId xmlns:a16="http://schemas.microsoft.com/office/drawing/2014/main" id="{AEA8049E-5B8E-EA45-43E3-52016AE77275}"/>
              </a:ext>
            </a:extLst>
          </p:cNvPr>
          <p:cNvSpPr txBox="1"/>
          <p:nvPr/>
        </p:nvSpPr>
        <p:spPr>
          <a:xfrm>
            <a:off x="491386" y="2603579"/>
            <a:ext cx="842225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solidFill>
                  <a:srgbClr val="526078"/>
                </a:solidFill>
                <a:latin typeface="Lucida Grande"/>
              </a:rPr>
              <a:t>✓</a:t>
            </a:r>
            <a:r>
              <a:rPr lang="fr-FR" sz="1200">
                <a:solidFill>
                  <a:srgbClr val="526078"/>
                </a:solidFill>
                <a:latin typeface="Helvetica"/>
                <a:cs typeface="Helvetica"/>
              </a:rPr>
              <a:t> Mesures indépendantes  |  </a:t>
            </a:r>
            <a:r>
              <a:rPr lang="fr-FR" sz="1200">
                <a:solidFill>
                  <a:srgbClr val="526078"/>
                </a:solidFill>
                <a:latin typeface="Lucida Grande"/>
              </a:rPr>
              <a:t>✓</a:t>
            </a:r>
            <a:r>
              <a:rPr lang="fr-FR" sz="1200">
                <a:solidFill>
                  <a:srgbClr val="526078"/>
                </a:solidFill>
                <a:latin typeface="Helvetica"/>
                <a:cs typeface="Helvetica"/>
              </a:rPr>
              <a:t> n = 556 &gt; 20  |  </a:t>
            </a:r>
            <a:r>
              <a:rPr lang="fr-FR" sz="1200">
                <a:solidFill>
                  <a:srgbClr val="526078"/>
                </a:solidFill>
                <a:latin typeface="Lucida Grande"/>
              </a:rPr>
              <a:t>✓</a:t>
            </a:r>
            <a:r>
              <a:rPr lang="fr-FR" sz="1200">
                <a:solidFill>
                  <a:srgbClr val="526078"/>
                </a:solidFill>
                <a:latin typeface="Helvetica"/>
                <a:cs typeface="Helvetica"/>
              </a:rPr>
              <a:t> Test de </a:t>
            </a:r>
            <a:r>
              <a:rPr lang="fr-FR" sz="1200" err="1">
                <a:solidFill>
                  <a:srgbClr val="526078"/>
                </a:solidFill>
                <a:latin typeface="Helvetica"/>
                <a:cs typeface="Helvetica"/>
              </a:rPr>
              <a:t>Levene</a:t>
            </a:r>
            <a:r>
              <a:rPr lang="fr-FR" sz="1200">
                <a:solidFill>
                  <a:srgbClr val="526078"/>
                </a:solidFill>
                <a:latin typeface="Helvetica"/>
                <a:cs typeface="Helvetica"/>
              </a:rPr>
              <a:t> : p = 0,8006 &gt; 0,05 (variances homogènes)</a:t>
            </a:r>
            <a:endParaRPr lang="fr-FR" sz="3600"/>
          </a:p>
        </p:txBody>
      </p:sp>
      <p:pic>
        <p:nvPicPr>
          <p:cNvPr id="17" name="Image 16" descr="Une image contenant capture d’écran, texte, Police, bleu vert&#10;&#10;Le contenu généré par l’IA peut être incorrect.">
            <a:extLst>
              <a:ext uri="{FF2B5EF4-FFF2-40B4-BE49-F238E27FC236}">
                <a16:creationId xmlns:a16="http://schemas.microsoft.com/office/drawing/2014/main" id="{20C00331-A306-57CF-97CF-0A49AD3BB5D9}"/>
              </a:ext>
            </a:extLst>
          </p:cNvPr>
          <p:cNvPicPr>
            <a:picLocks noChangeAspect="1"/>
          </p:cNvPicPr>
          <p:nvPr/>
        </p:nvPicPr>
        <p:blipFill>
          <a:blip r:embed="rId3"/>
          <a:stretch>
            <a:fillRect/>
          </a:stretch>
        </p:blipFill>
        <p:spPr>
          <a:xfrm>
            <a:off x="4536955" y="3264200"/>
            <a:ext cx="2571750" cy="933450"/>
          </a:xfrm>
          <a:prstGeom prst="rect">
            <a:avLst/>
          </a:prstGeom>
        </p:spPr>
      </p:pic>
    </p:spTree>
    <p:extLst>
      <p:ext uri="{BB962C8B-B14F-4D97-AF65-F5344CB8AC3E}">
        <p14:creationId xmlns:p14="http://schemas.microsoft.com/office/powerpoint/2010/main" val="217293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a:extLst>
              <a:ext uri="{FF2B5EF4-FFF2-40B4-BE49-F238E27FC236}">
                <a16:creationId xmlns:a16="http://schemas.microsoft.com/office/drawing/2014/main" id="{5F66A232-4547-4AA6-7E87-378A859359E7}"/>
              </a:ext>
            </a:extLst>
          </p:cNvPr>
          <p:cNvSpPr txBox="1">
            <a:spLocks/>
          </p:cNvSpPr>
          <p:nvPr/>
        </p:nvSpPr>
        <p:spPr>
          <a:xfrm>
            <a:off x="668111" y="283482"/>
            <a:ext cx="10515600"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900" b="1">
                <a:solidFill>
                  <a:srgbClr val="0F4761"/>
                </a:solidFill>
                <a:highlight>
                  <a:srgbClr val="FFFFFF"/>
                </a:highlight>
              </a:rPr>
              <a:t>Tests statistiques</a:t>
            </a:r>
            <a:br>
              <a:rPr lang="fr-FR" sz="2600" b="1">
                <a:highlight>
                  <a:srgbClr val="FFFFFF"/>
                </a:highlight>
              </a:rPr>
            </a:br>
            <a:br>
              <a:rPr lang="fr-FR" sz="2600" b="1">
                <a:highlight>
                  <a:srgbClr val="FFFFFF"/>
                </a:highlight>
              </a:rPr>
            </a:br>
            <a:r>
              <a:rPr lang="fr-FR" sz="1800" b="1">
                <a:solidFill>
                  <a:srgbClr val="0F4761"/>
                </a:solidFill>
                <a:highlight>
                  <a:srgbClr val="FFFFFF"/>
                </a:highlight>
              </a:rPr>
              <a:t>2 variables quantitatives : test de corrélation Pearson</a:t>
            </a:r>
            <a:br>
              <a:rPr lang="fr-FR" sz="1600" b="1">
                <a:solidFill>
                  <a:srgbClr val="0F4761"/>
                </a:solidFill>
                <a:highlight>
                  <a:srgbClr val="FFFFFF"/>
                </a:highlight>
              </a:rPr>
            </a:br>
            <a:br>
              <a:rPr lang="fr-FR" sz="1600" b="1">
                <a:highlight>
                  <a:srgbClr val="FFFFFF"/>
                </a:highlight>
              </a:rPr>
            </a:br>
            <a:endParaRPr lang="fr-FR" sz="1600" b="1">
              <a:solidFill>
                <a:srgbClr val="0F4761"/>
              </a:solidFill>
              <a:highlight>
                <a:srgbClr val="FFFFFF"/>
              </a:highlight>
            </a:endParaRPr>
          </a:p>
        </p:txBody>
      </p:sp>
      <p:sp>
        <p:nvSpPr>
          <p:cNvPr id="7" name="Rectangle 6">
            <a:extLst>
              <a:ext uri="{FF2B5EF4-FFF2-40B4-BE49-F238E27FC236}">
                <a16:creationId xmlns:a16="http://schemas.microsoft.com/office/drawing/2014/main" id="{E5601EE9-7C90-CC65-1D72-EFD832C5D6AE}"/>
              </a:ext>
            </a:extLst>
          </p:cNvPr>
          <p:cNvSpPr/>
          <p:nvPr/>
        </p:nvSpPr>
        <p:spPr>
          <a:xfrm>
            <a:off x="449035" y="853151"/>
            <a:ext cx="10841942" cy="571893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0" name="Tableau 9">
            <a:extLst>
              <a:ext uri="{FF2B5EF4-FFF2-40B4-BE49-F238E27FC236}">
                <a16:creationId xmlns:a16="http://schemas.microsoft.com/office/drawing/2014/main" id="{A9883BBC-D969-3FE2-374B-4D1A3B9E9698}"/>
              </a:ext>
            </a:extLst>
          </p:cNvPr>
          <p:cNvGraphicFramePr>
            <a:graphicFrameLocks noGrp="1"/>
          </p:cNvGraphicFramePr>
          <p:nvPr>
            <p:extLst>
              <p:ext uri="{D42A27DB-BD31-4B8C-83A1-F6EECF244321}">
                <p14:modId xmlns:p14="http://schemas.microsoft.com/office/powerpoint/2010/main" val="1324798059"/>
              </p:ext>
            </p:extLst>
          </p:nvPr>
        </p:nvGraphicFramePr>
        <p:xfrm>
          <a:off x="779689" y="2644176"/>
          <a:ext cx="4781550" cy="1433576"/>
        </p:xfrm>
        <a:graphic>
          <a:graphicData uri="http://schemas.openxmlformats.org/drawingml/2006/table">
            <a:tbl>
              <a:tblPr bandRow="1">
                <a:tableStyleId>{5C22544A-7EE6-4342-B048-85BDC9FD1C3A}</a:tableStyleId>
              </a:tblPr>
              <a:tblGrid>
                <a:gridCol w="2390775">
                  <a:extLst>
                    <a:ext uri="{9D8B030D-6E8A-4147-A177-3AD203B41FA5}">
                      <a16:colId xmlns:a16="http://schemas.microsoft.com/office/drawing/2014/main" val="1185925467"/>
                    </a:ext>
                  </a:extLst>
                </a:gridCol>
                <a:gridCol w="2390775">
                  <a:extLst>
                    <a:ext uri="{9D8B030D-6E8A-4147-A177-3AD203B41FA5}">
                      <a16:colId xmlns:a16="http://schemas.microsoft.com/office/drawing/2014/main" val="2463469020"/>
                    </a:ext>
                  </a:extLst>
                </a:gridCol>
              </a:tblGrid>
              <a:tr h="0">
                <a:tc>
                  <a:txBody>
                    <a:bodyPr/>
                    <a:lstStyle/>
                    <a:p>
                      <a:pPr algn="l" rtl="0" fontAlgn="base">
                        <a:lnSpc>
                          <a:spcPts val="1657"/>
                        </a:lnSpc>
                        <a:buNone/>
                      </a:pPr>
                      <a:r>
                        <a:rPr lang="fr-FR" sz="1200" b="1" i="0">
                          <a:solidFill>
                            <a:srgbClr val="FFFFFF"/>
                          </a:solidFill>
                          <a:effectLst/>
                          <a:latin typeface="Arial" panose="020B0604020202020204" pitchFamily="34" charset="0"/>
                        </a:rPr>
                        <a:t>Test de Pearson</a:t>
                      </a:r>
                      <a:r>
                        <a:rPr lang="fr-FR" sz="1200" b="0" i="0">
                          <a:solidFill>
                            <a:srgbClr val="FFFFFF"/>
                          </a:solidFill>
                          <a:effectLst/>
                          <a:latin typeface="Arial" panose="020B0604020202020204" pitchFamily="34" charset="0"/>
                        </a:rPr>
                        <a:t> </a:t>
                      </a:r>
                      <a:endParaRPr lang="fr-FR" b="0" i="0">
                        <a:effectLst/>
                      </a:endParaRPr>
                    </a:p>
                  </a:txBody>
                  <a:tcPr marL="38100" marR="38100" marT="38100" marB="3810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223F6F"/>
                    </a:solidFill>
                  </a:tcPr>
                </a:tc>
                <a:tc>
                  <a:txBody>
                    <a:bodyPr/>
                    <a:lstStyle/>
                    <a:p>
                      <a:pPr algn="l" rtl="0" fontAlgn="base">
                        <a:lnSpc>
                          <a:spcPts val="1657"/>
                        </a:lnSpc>
                        <a:buNone/>
                      </a:pPr>
                      <a:r>
                        <a:rPr lang="fr-FR" sz="1200" b="1" i="0">
                          <a:solidFill>
                            <a:srgbClr val="FFFFFF"/>
                          </a:solidFill>
                          <a:effectLst/>
                          <a:latin typeface="Arial" panose="020B0604020202020204" pitchFamily="34" charset="0"/>
                        </a:rPr>
                        <a:t>Test de Spearman</a:t>
                      </a:r>
                      <a:r>
                        <a:rPr lang="fr-FR" sz="1200" b="0" i="0">
                          <a:solidFill>
                            <a:srgbClr val="FFFFFF"/>
                          </a:solidFill>
                          <a:effectLst/>
                          <a:latin typeface="Arial" panose="020B0604020202020204" pitchFamily="34" charset="0"/>
                        </a:rPr>
                        <a:t> </a:t>
                      </a:r>
                      <a:endParaRPr lang="fr-FR" b="0" i="0">
                        <a:effectLst/>
                      </a:endParaRPr>
                    </a:p>
                  </a:txBody>
                  <a:tcPr marL="38100" marR="38100" marT="38100" marB="3810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solidFill>
                      <a:srgbClr val="223F6F"/>
                    </a:solidFill>
                  </a:tcPr>
                </a:tc>
                <a:extLst>
                  <a:ext uri="{0D108BD9-81ED-4DB2-BD59-A6C34878D82A}">
                    <a16:rowId xmlns:a16="http://schemas.microsoft.com/office/drawing/2014/main" val="1472483070"/>
                  </a:ext>
                </a:extLst>
              </a:tr>
              <a:tr h="695325">
                <a:tc>
                  <a:txBody>
                    <a:bodyPr/>
                    <a:lstStyle/>
                    <a:p>
                      <a:pPr algn="l" rtl="0" fontAlgn="base">
                        <a:lnSpc>
                          <a:spcPts val="1657"/>
                        </a:lnSpc>
                        <a:spcAft>
                          <a:spcPts val="600"/>
                        </a:spcAft>
                        <a:buNone/>
                      </a:pPr>
                      <a:r>
                        <a:rPr lang="fr-FR" sz="1200" b="0" i="0">
                          <a:solidFill>
                            <a:srgbClr val="000000"/>
                          </a:solidFill>
                          <a:effectLst/>
                          <a:latin typeface="Arial" panose="020B0604020202020204" pitchFamily="34" charset="0"/>
                        </a:rPr>
                        <a:t>r = 0,066 </a:t>
                      </a:r>
                      <a:endParaRPr lang="fr-FR" b="0" i="0">
                        <a:effectLst/>
                      </a:endParaRPr>
                    </a:p>
                    <a:p>
                      <a:pPr algn="l" rtl="0" fontAlgn="base">
                        <a:lnSpc>
                          <a:spcPts val="1657"/>
                        </a:lnSpc>
                        <a:spcAft>
                          <a:spcPts val="600"/>
                        </a:spcAft>
                        <a:buNone/>
                      </a:pPr>
                      <a:r>
                        <a:rPr lang="fr-FR" sz="1200" b="0" i="0">
                          <a:solidFill>
                            <a:srgbClr val="000000"/>
                          </a:solidFill>
                          <a:effectLst/>
                          <a:latin typeface="Arial" panose="020B0604020202020204" pitchFamily="34" charset="0"/>
                        </a:rPr>
                        <a:t>r² = 0,4 % </a:t>
                      </a:r>
                      <a:endParaRPr lang="fr-FR" b="0" i="0">
                        <a:effectLst/>
                      </a:endParaRPr>
                    </a:p>
                    <a:p>
                      <a:pPr algn="l" rtl="0" fontAlgn="base">
                        <a:lnSpc>
                          <a:spcPts val="1657"/>
                        </a:lnSpc>
                        <a:spcAft>
                          <a:spcPts val="600"/>
                        </a:spcAft>
                        <a:buNone/>
                      </a:pPr>
                      <a:r>
                        <a:rPr lang="fr-FR" sz="1200" b="1" i="0">
                          <a:solidFill>
                            <a:srgbClr val="000000"/>
                          </a:solidFill>
                          <a:effectLst/>
                          <a:latin typeface="Arial" panose="020B0604020202020204" pitchFamily="34" charset="0"/>
                        </a:rPr>
                        <a:t>p = 0,1196</a:t>
                      </a:r>
                      <a:r>
                        <a:rPr lang="fr-FR" sz="1200" b="0" i="0">
                          <a:solidFill>
                            <a:srgbClr val="000000"/>
                          </a:solidFill>
                          <a:effectLst/>
                          <a:latin typeface="Arial" panose="020B0604020202020204" pitchFamily="34" charset="0"/>
                        </a:rPr>
                        <a:t> </a:t>
                      </a:r>
                      <a:endParaRPr lang="fr-FR" b="0" i="0">
                        <a:effectLst/>
                      </a:endParaRPr>
                    </a:p>
                    <a:p>
                      <a:pPr algn="l" rtl="0" fontAlgn="base">
                        <a:lnSpc>
                          <a:spcPts val="1657"/>
                        </a:lnSpc>
                        <a:buNone/>
                      </a:pPr>
                      <a:r>
                        <a:rPr lang="fr-FR" sz="1200" b="0" i="0">
                          <a:solidFill>
                            <a:srgbClr val="000000"/>
                          </a:solidFill>
                          <a:effectLst/>
                          <a:latin typeface="Arial" panose="020B0604020202020204" pitchFamily="34" charset="0"/>
                        </a:rPr>
                        <a:t>IC 95 % : [-0,017 ; 0,148] </a:t>
                      </a:r>
                      <a:endParaRPr lang="fr-FR" b="0" i="0">
                        <a:effectLst/>
                      </a:endParaRPr>
                    </a:p>
                  </a:txBody>
                  <a:tcPr marL="38100" marR="38100" marT="38100" marB="3810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noFill/>
                  </a:tcPr>
                </a:tc>
                <a:tc>
                  <a:txBody>
                    <a:bodyPr/>
                    <a:lstStyle/>
                    <a:p>
                      <a:pPr algn="l" rtl="0" fontAlgn="base">
                        <a:lnSpc>
                          <a:spcPts val="1657"/>
                        </a:lnSpc>
                        <a:spcAft>
                          <a:spcPts val="600"/>
                        </a:spcAft>
                        <a:buNone/>
                      </a:pPr>
                      <a:r>
                        <a:rPr lang="el-GR" sz="1200" b="0" i="0">
                          <a:solidFill>
                            <a:srgbClr val="000000"/>
                          </a:solidFill>
                          <a:effectLst/>
                          <a:latin typeface="Arial" panose="020B0604020202020204" pitchFamily="34" charset="0"/>
                        </a:rPr>
                        <a:t>ρ = 0,045 </a:t>
                      </a:r>
                      <a:endParaRPr lang="el-GR" b="0" i="0">
                        <a:effectLst/>
                      </a:endParaRPr>
                    </a:p>
                    <a:p>
                      <a:pPr algn="l" rtl="0" fontAlgn="base">
                        <a:lnSpc>
                          <a:spcPts val="1657"/>
                        </a:lnSpc>
                        <a:buNone/>
                      </a:pPr>
                      <a:r>
                        <a:rPr lang="fr-FR" sz="1200" b="1" i="0">
                          <a:solidFill>
                            <a:srgbClr val="000000"/>
                          </a:solidFill>
                          <a:effectLst/>
                          <a:latin typeface="Arial" panose="020B0604020202020204" pitchFamily="34" charset="0"/>
                        </a:rPr>
                        <a:t>p = 0,2903</a:t>
                      </a:r>
                      <a:r>
                        <a:rPr lang="fr-FR" sz="1200" b="0" i="0">
                          <a:solidFill>
                            <a:srgbClr val="000000"/>
                          </a:solidFill>
                          <a:effectLst/>
                          <a:latin typeface="Arial" panose="020B0604020202020204" pitchFamily="34" charset="0"/>
                        </a:rPr>
                        <a:t> </a:t>
                      </a:r>
                      <a:endParaRPr lang="fr-FR" b="0" i="0">
                        <a:effectLst/>
                      </a:endParaRPr>
                    </a:p>
                  </a:txBody>
                  <a:tcPr marL="38100" marR="38100" marT="38100" marB="38100">
                    <a:lnL w="9525" cap="flat" cmpd="sng" algn="ctr">
                      <a:solidFill>
                        <a:srgbClr val="C1C1C1"/>
                      </a:solidFill>
                      <a:prstDash val="solid"/>
                      <a:round/>
                      <a:headEnd type="none" w="med" len="med"/>
                      <a:tailEnd type="none" w="med" len="med"/>
                    </a:lnL>
                    <a:lnR w="9525" cap="flat" cmpd="sng" algn="ctr">
                      <a:solidFill>
                        <a:srgbClr val="C1C1C1"/>
                      </a:solidFill>
                      <a:prstDash val="solid"/>
                      <a:round/>
                      <a:headEnd type="none" w="med" len="med"/>
                      <a:tailEnd type="none" w="med" len="med"/>
                    </a:lnR>
                    <a:lnT w="9525" cap="flat" cmpd="sng" algn="ctr">
                      <a:solidFill>
                        <a:srgbClr val="C1C1C1"/>
                      </a:solidFill>
                      <a:prstDash val="solid"/>
                      <a:round/>
                      <a:headEnd type="none" w="med" len="med"/>
                      <a:tailEnd type="none" w="med" len="med"/>
                    </a:lnT>
                    <a:lnB w="9525" cap="flat" cmpd="sng" algn="ctr">
                      <a:solidFill>
                        <a:srgbClr val="C1C1C1"/>
                      </a:solidFill>
                      <a:prstDash val="solid"/>
                      <a:round/>
                      <a:headEnd type="none" w="med" len="med"/>
                      <a:tailEnd type="none" w="med" len="med"/>
                    </a:lnB>
                    <a:noFill/>
                  </a:tcPr>
                </a:tc>
                <a:extLst>
                  <a:ext uri="{0D108BD9-81ED-4DB2-BD59-A6C34878D82A}">
                    <a16:rowId xmlns:a16="http://schemas.microsoft.com/office/drawing/2014/main" val="2759296724"/>
                  </a:ext>
                </a:extLst>
              </a:tr>
            </a:tbl>
          </a:graphicData>
        </a:graphic>
      </p:graphicFrame>
      <p:sp>
        <p:nvSpPr>
          <p:cNvPr id="11" name="ZoneTexte 10">
            <a:extLst>
              <a:ext uri="{FF2B5EF4-FFF2-40B4-BE49-F238E27FC236}">
                <a16:creationId xmlns:a16="http://schemas.microsoft.com/office/drawing/2014/main" id="{4751185F-0C48-82F2-D3F5-F0D61254C0F0}"/>
              </a:ext>
            </a:extLst>
          </p:cNvPr>
          <p:cNvSpPr txBox="1"/>
          <p:nvPr/>
        </p:nvSpPr>
        <p:spPr>
          <a:xfrm>
            <a:off x="782410" y="1544410"/>
            <a:ext cx="5089072" cy="45704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ts val="1740"/>
              </a:lnSpc>
            </a:pPr>
            <a:r>
              <a:rPr lang="fr-FR" sz="1200" b="1" i="0">
                <a:solidFill>
                  <a:srgbClr val="000000"/>
                </a:solidFill>
                <a:latin typeface="Arial"/>
                <a:ea typeface="Segoe UI"/>
                <a:cs typeface="Segoe UI"/>
              </a:rPr>
              <a:t>Analyse de la relation linéaire entre l'âge des salariés et le montant de leur part variable managériale (n = 556).</a:t>
            </a:r>
            <a:r>
              <a:rPr lang="fr-FR" sz="1200" b="0" i="0">
                <a:solidFill>
                  <a:srgbClr val="000000"/>
                </a:solidFill>
                <a:latin typeface="Arial"/>
                <a:ea typeface="Segoe UI"/>
                <a:cs typeface="Segoe UI"/>
              </a:rPr>
              <a:t> </a:t>
            </a:r>
          </a:p>
          <a:p>
            <a:pPr algn="ctr" rtl="0">
              <a:lnSpc>
                <a:spcPts val="1657"/>
              </a:lnSpc>
            </a:pPr>
            <a:endParaRPr lang="en-US" sz="1200" b="0" i="0">
              <a:solidFill>
                <a:srgbClr val="000000"/>
              </a:solidFill>
              <a:latin typeface="Arial"/>
              <a:ea typeface="Segoe UI"/>
              <a:cs typeface="Segoe UI"/>
            </a:endParaRPr>
          </a:p>
          <a:p>
            <a:pPr algn="l" rtl="0">
              <a:lnSpc>
                <a:spcPts val="1657"/>
              </a:lnSpc>
            </a:pPr>
            <a:r>
              <a:rPr lang="fr-FR" sz="1200" b="1" i="0">
                <a:solidFill>
                  <a:srgbClr val="223F6F"/>
                </a:solidFill>
                <a:latin typeface="Arial"/>
                <a:ea typeface="Segoe UI"/>
                <a:cs typeface="Segoe UI"/>
              </a:rPr>
              <a:t>Résultats</a:t>
            </a:r>
            <a:r>
              <a:rPr lang="en-US" sz="1200" b="0" i="0">
                <a:solidFill>
                  <a:srgbClr val="223F6F"/>
                </a:solidFill>
                <a:latin typeface="Arial"/>
                <a:ea typeface="Segoe UI"/>
                <a:cs typeface="Segoe UI"/>
              </a:rPr>
              <a:t> </a:t>
            </a:r>
          </a:p>
          <a:p>
            <a:pPr algn="l" rtl="0"/>
            <a:endParaRPr b="0" i="0">
              <a:solidFill>
                <a:srgbClr val="000000"/>
              </a:solidFill>
              <a:latin typeface="Segoe UI"/>
              <a:ea typeface="Segoe UI"/>
              <a:cs typeface="Segoe UI"/>
            </a:endParaRPr>
          </a:p>
          <a:p>
            <a:pPr algn="l" rtl="0">
              <a:lnSpc>
                <a:spcPts val="1657"/>
              </a:lnSpc>
            </a:pPr>
            <a:endParaRPr lang="en-US" sz="1200" b="0" i="0">
              <a:solidFill>
                <a:srgbClr val="000000"/>
              </a:solidFill>
              <a:latin typeface="Calibri"/>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nSpc>
                <a:spcPts val="1657"/>
              </a:lnSpc>
            </a:pPr>
            <a:endParaRPr lang="fr-FR" sz="1200" b="1">
              <a:solidFill>
                <a:srgbClr val="000000"/>
              </a:solidFill>
              <a:latin typeface="Arial"/>
              <a:ea typeface="Segoe UI"/>
              <a:cs typeface="Segoe UI"/>
            </a:endParaRPr>
          </a:p>
          <a:p>
            <a:pPr algn="l">
              <a:lnSpc>
                <a:spcPts val="1657"/>
              </a:lnSpc>
            </a:pPr>
            <a:r>
              <a:rPr lang="fr-FR" sz="1200" b="1" i="0">
                <a:solidFill>
                  <a:srgbClr val="000000"/>
                </a:solidFill>
                <a:latin typeface="Arial"/>
                <a:ea typeface="Segoe UI"/>
                <a:cs typeface="Segoe UI"/>
              </a:rPr>
              <a:t>Conclusion : Les deux tests (p &gt; 0,05) ne permettent pas de rejeter H0. Il n'existe pas de relation statistiquement significative entre l'âge et la part variable managériale. L'âge n'explique que 0,4 % de la variance de cette prime.</a:t>
            </a:r>
            <a:r>
              <a:rPr lang="en-US" sz="1200" b="0" i="0">
                <a:solidFill>
                  <a:srgbClr val="000000"/>
                </a:solidFill>
                <a:latin typeface="Arial"/>
                <a:ea typeface="Segoe UI"/>
                <a:cs typeface="Segoe UI"/>
              </a:rPr>
              <a:t> </a:t>
            </a:r>
            <a:endParaRPr lang="en-US"/>
          </a:p>
          <a:p>
            <a:pPr algn="l" rtl="0">
              <a:lnSpc>
                <a:spcPts val="1657"/>
              </a:lnSpc>
            </a:pPr>
            <a:endParaRPr lang="en-US" sz="1200" b="0" i="0">
              <a:solidFill>
                <a:srgbClr val="000000"/>
              </a:solidFill>
              <a:latin typeface="Arial"/>
              <a:ea typeface="Segoe UI"/>
              <a:cs typeface="Segoe UI"/>
            </a:endParaRPr>
          </a:p>
          <a:p>
            <a:pPr algn="ctr"/>
            <a:endParaRPr lang="fr-FR"/>
          </a:p>
        </p:txBody>
      </p:sp>
      <p:pic>
        <p:nvPicPr>
          <p:cNvPr id="12" name="Image 11" descr="Une image contenant texte, capture d’écran, ligne, diagramme&#10;&#10;Le contenu généré par l’IA peut être incorrect.">
            <a:extLst>
              <a:ext uri="{FF2B5EF4-FFF2-40B4-BE49-F238E27FC236}">
                <a16:creationId xmlns:a16="http://schemas.microsoft.com/office/drawing/2014/main" id="{2DCA2824-FB23-0AD9-B5CE-A31D3D6E7CB3}"/>
              </a:ext>
            </a:extLst>
          </p:cNvPr>
          <p:cNvPicPr>
            <a:picLocks noChangeAspect="1"/>
          </p:cNvPicPr>
          <p:nvPr/>
        </p:nvPicPr>
        <p:blipFill>
          <a:blip r:embed="rId3"/>
          <a:stretch>
            <a:fillRect/>
          </a:stretch>
        </p:blipFill>
        <p:spPr>
          <a:xfrm>
            <a:off x="6766152" y="944336"/>
            <a:ext cx="3762375" cy="2819400"/>
          </a:xfrm>
          <a:prstGeom prst="rect">
            <a:avLst/>
          </a:prstGeom>
        </p:spPr>
      </p:pic>
      <p:sp>
        <p:nvSpPr>
          <p:cNvPr id="13" name="ZoneTexte 12">
            <a:extLst>
              <a:ext uri="{FF2B5EF4-FFF2-40B4-BE49-F238E27FC236}">
                <a16:creationId xmlns:a16="http://schemas.microsoft.com/office/drawing/2014/main" id="{A629B02B-60E6-D149-B4E6-23482640CC1D}"/>
              </a:ext>
            </a:extLst>
          </p:cNvPr>
          <p:cNvSpPr txBox="1"/>
          <p:nvPr/>
        </p:nvSpPr>
        <p:spPr>
          <a:xfrm>
            <a:off x="6266089" y="3762374"/>
            <a:ext cx="4762499"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a:solidFill>
                  <a:srgbClr val="223F6F"/>
                </a:solidFill>
                <a:highlight>
                  <a:srgbClr val="FFFFFF"/>
                </a:highlight>
                <a:latin typeface="Arial"/>
                <a:cs typeface="Arial"/>
              </a:rPr>
              <a:t>Vérification de la normalité (QQ-plots)</a:t>
            </a:r>
            <a:endParaRPr lang="en-US" sz="1200">
              <a:solidFill>
                <a:srgbClr val="223F6F"/>
              </a:solidFill>
              <a:highlight>
                <a:srgbClr val="FFFFFF"/>
              </a:highlight>
              <a:latin typeface="Arial"/>
              <a:cs typeface="Arial"/>
            </a:endParaRPr>
          </a:p>
          <a:p>
            <a:endParaRPr lang="en-US" sz="1200">
              <a:solidFill>
                <a:srgbClr val="223F6F"/>
              </a:solidFill>
              <a:highlight>
                <a:srgbClr val="FFFFFF"/>
              </a:highlight>
              <a:latin typeface="Arial"/>
              <a:cs typeface="Arial"/>
            </a:endParaRPr>
          </a:p>
          <a:p>
            <a:r>
              <a:rPr lang="fr-FR" sz="1200" b="1">
                <a:highlight>
                  <a:srgbClr val="FFFFFF"/>
                </a:highlight>
                <a:latin typeface="Arial"/>
                <a:cs typeface="Arial"/>
              </a:rPr>
              <a:t>Les deux variables s'écartent de la normalité (Shapiro-</a:t>
            </a:r>
            <a:r>
              <a:rPr lang="fr-FR" sz="1200" b="1" err="1">
                <a:highlight>
                  <a:srgbClr val="FFFFFF"/>
                </a:highlight>
                <a:latin typeface="Arial"/>
                <a:cs typeface="Arial"/>
              </a:rPr>
              <a:t>Wilk</a:t>
            </a:r>
            <a:r>
              <a:rPr lang="fr-FR" sz="1200" b="1">
                <a:highlight>
                  <a:srgbClr val="FFFFFF"/>
                </a:highlight>
                <a:latin typeface="Arial"/>
                <a:cs typeface="Arial"/>
              </a:rPr>
              <a:t> p &lt; 0,0001), justifiant le recours au test non paramétrique de Spearman.</a:t>
            </a:r>
            <a:endParaRPr lang="en-US" sz="1200">
              <a:highlight>
                <a:srgbClr val="FFFFFF"/>
              </a:highlight>
              <a:latin typeface="Arial"/>
              <a:cs typeface="Arial"/>
            </a:endParaRPr>
          </a:p>
          <a:p>
            <a:pPr algn="l"/>
            <a:endParaRPr lang="fr-FR"/>
          </a:p>
        </p:txBody>
      </p:sp>
      <p:pic>
        <p:nvPicPr>
          <p:cNvPr id="14" name="Image 13" descr="Une image contenant texte, capture d’écran, ligne, Tracé&#10;&#10;Le contenu généré par l’IA peut être incorrect.">
            <a:extLst>
              <a:ext uri="{FF2B5EF4-FFF2-40B4-BE49-F238E27FC236}">
                <a16:creationId xmlns:a16="http://schemas.microsoft.com/office/drawing/2014/main" id="{D653EB23-7C46-D589-EA78-3855BC114851}"/>
              </a:ext>
            </a:extLst>
          </p:cNvPr>
          <p:cNvPicPr>
            <a:picLocks noChangeAspect="1"/>
          </p:cNvPicPr>
          <p:nvPr/>
        </p:nvPicPr>
        <p:blipFill>
          <a:blip r:embed="rId4"/>
          <a:stretch>
            <a:fillRect/>
          </a:stretch>
        </p:blipFill>
        <p:spPr>
          <a:xfrm>
            <a:off x="6096681" y="4760459"/>
            <a:ext cx="2121354" cy="1766208"/>
          </a:xfrm>
          <a:prstGeom prst="rect">
            <a:avLst/>
          </a:prstGeom>
        </p:spPr>
      </p:pic>
      <p:pic>
        <p:nvPicPr>
          <p:cNvPr id="15" name="Image 14" descr="Une image contenant texte, Tracé, diagramme, ligne&#10;&#10;Le contenu généré par l’IA peut être incorrect.">
            <a:extLst>
              <a:ext uri="{FF2B5EF4-FFF2-40B4-BE49-F238E27FC236}">
                <a16:creationId xmlns:a16="http://schemas.microsoft.com/office/drawing/2014/main" id="{FC7486F9-0C40-ADA6-5E83-8CB531218877}"/>
              </a:ext>
            </a:extLst>
          </p:cNvPr>
          <p:cNvPicPr>
            <a:picLocks noChangeAspect="1"/>
          </p:cNvPicPr>
          <p:nvPr/>
        </p:nvPicPr>
        <p:blipFill>
          <a:blip r:embed="rId5"/>
          <a:stretch>
            <a:fillRect/>
          </a:stretch>
        </p:blipFill>
        <p:spPr>
          <a:xfrm>
            <a:off x="8706531" y="4703988"/>
            <a:ext cx="2119993" cy="1811112"/>
          </a:xfrm>
          <a:prstGeom prst="rect">
            <a:avLst/>
          </a:prstGeom>
        </p:spPr>
      </p:pic>
    </p:spTree>
    <p:extLst>
      <p:ext uri="{BB962C8B-B14F-4D97-AF65-F5344CB8AC3E}">
        <p14:creationId xmlns:p14="http://schemas.microsoft.com/office/powerpoint/2010/main" val="271926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B526E-B0F8-ED60-21D7-8C14D1B7B185}"/>
            </a:ext>
          </a:extLst>
        </p:cNvPr>
        <p:cNvGrpSpPr/>
        <p:nvPr/>
      </p:nvGrpSpPr>
      <p:grpSpPr>
        <a:xfrm>
          <a:off x="0" y="0"/>
          <a:ext cx="0" cy="0"/>
          <a:chOff x="0" y="0"/>
          <a:chExt cx="0" cy="0"/>
        </a:xfrm>
      </p:grpSpPr>
      <p:sp>
        <p:nvSpPr>
          <p:cNvPr id="5" name="Titre 1">
            <a:extLst>
              <a:ext uri="{FF2B5EF4-FFF2-40B4-BE49-F238E27FC236}">
                <a16:creationId xmlns:a16="http://schemas.microsoft.com/office/drawing/2014/main" id="{44A58241-5769-52B9-D21D-20CDC5864ED5}"/>
              </a:ext>
            </a:extLst>
          </p:cNvPr>
          <p:cNvSpPr txBox="1">
            <a:spLocks/>
          </p:cNvSpPr>
          <p:nvPr/>
        </p:nvSpPr>
        <p:spPr>
          <a:xfrm>
            <a:off x="668111" y="31749"/>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900" b="1">
                <a:solidFill>
                  <a:srgbClr val="0F4761"/>
                </a:solidFill>
                <a:highlight>
                  <a:srgbClr val="FFFFFF"/>
                </a:highlight>
              </a:rPr>
              <a:t>Tests statistiques</a:t>
            </a:r>
            <a:endParaRPr lang="fr-FR" sz="1600" b="1">
              <a:solidFill>
                <a:srgbClr val="0F4761"/>
              </a:solidFill>
              <a:highlight>
                <a:srgbClr val="FFFFFF"/>
              </a:highlight>
            </a:endParaRPr>
          </a:p>
          <a:p>
            <a:br>
              <a:rPr lang="fr-FR" sz="2600" b="1">
                <a:highlight>
                  <a:srgbClr val="FFFFFF"/>
                </a:highlight>
              </a:rPr>
            </a:br>
            <a:r>
              <a:rPr lang="en-US" sz="1800" b="1">
                <a:solidFill>
                  <a:srgbClr val="0F4761"/>
                </a:solidFill>
                <a:highlight>
                  <a:srgbClr val="FFFFFF"/>
                </a:highlight>
              </a:rPr>
              <a:t>2 variables : 1 quantitative &amp; 1 qualitative : Anova</a:t>
            </a:r>
            <a:endParaRPr lang="fr-FR" sz="1600" b="1">
              <a:solidFill>
                <a:srgbClr val="0F4761"/>
              </a:solidFill>
              <a:highlight>
                <a:srgbClr val="FFFFFF"/>
              </a:highlight>
            </a:endParaRPr>
          </a:p>
        </p:txBody>
      </p:sp>
      <p:sp>
        <p:nvSpPr>
          <p:cNvPr id="7" name="Rectangle 6">
            <a:extLst>
              <a:ext uri="{FF2B5EF4-FFF2-40B4-BE49-F238E27FC236}">
                <a16:creationId xmlns:a16="http://schemas.microsoft.com/office/drawing/2014/main" id="{5188BBA5-35AC-DED1-3C1D-53EFFAE18DCC}"/>
              </a:ext>
            </a:extLst>
          </p:cNvPr>
          <p:cNvSpPr/>
          <p:nvPr/>
        </p:nvSpPr>
        <p:spPr>
          <a:xfrm>
            <a:off x="449035" y="853151"/>
            <a:ext cx="11474674" cy="58754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1ABA6306-995E-82CE-D5AA-6866F0D30462}"/>
              </a:ext>
            </a:extLst>
          </p:cNvPr>
          <p:cNvSpPr txBox="1"/>
          <p:nvPr/>
        </p:nvSpPr>
        <p:spPr>
          <a:xfrm>
            <a:off x="666749" y="1279071"/>
            <a:ext cx="5524500"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100">
                <a:highlight>
                  <a:srgbClr val="FFFFFF"/>
                </a:highlight>
                <a:latin typeface="Calibri"/>
                <a:ea typeface="Calibri"/>
                <a:cs typeface="Calibri"/>
              </a:rPr>
              <a:t>Nous analyserons </a:t>
            </a:r>
            <a:r>
              <a:rPr lang="fr-FR" sz="1100" b="1">
                <a:highlight>
                  <a:srgbClr val="FFFFFF"/>
                </a:highlight>
                <a:latin typeface="Calibri"/>
                <a:ea typeface="Calibri"/>
                <a:cs typeface="Calibri"/>
              </a:rPr>
              <a:t>Niveau hiérarchique</a:t>
            </a:r>
            <a:r>
              <a:rPr lang="fr-FR" sz="1100">
                <a:highlight>
                  <a:srgbClr val="FFFFFF"/>
                </a:highlight>
                <a:latin typeface="Calibri"/>
                <a:ea typeface="Calibri"/>
                <a:cs typeface="Calibri"/>
              </a:rPr>
              <a:t> et </a:t>
            </a:r>
            <a:r>
              <a:rPr lang="fr-FR" sz="1100" b="1">
                <a:highlight>
                  <a:srgbClr val="FFFFFF"/>
                </a:highlight>
                <a:latin typeface="Calibri"/>
                <a:ea typeface="Calibri"/>
                <a:cs typeface="Calibri"/>
              </a:rPr>
              <a:t>Salaire</a:t>
            </a:r>
            <a:r>
              <a:rPr lang="fr-FR" sz="1100">
                <a:highlight>
                  <a:srgbClr val="FFFFFF"/>
                </a:highlight>
                <a:latin typeface="Calibri"/>
                <a:ea typeface="Calibri"/>
                <a:cs typeface="Calibri"/>
              </a:rPr>
              <a:t> avec le test ANOVA.</a:t>
            </a:r>
          </a:p>
          <a:p>
            <a:r>
              <a:rPr lang="fr-FR" sz="1100">
                <a:highlight>
                  <a:srgbClr val="FFFFFF"/>
                </a:highlight>
                <a:latin typeface="Calibri"/>
                <a:ea typeface="Calibri"/>
                <a:cs typeface="Calibri"/>
              </a:rPr>
              <a:t>L'ANOVA est utilisée lorsqu'il y a au moins 3 groupes pour la variable qualitative. Ici, le niveau hiérarchique comporte 7 niveaux (de 1 à 7).</a:t>
            </a:r>
          </a:p>
          <a:p>
            <a:r>
              <a:rPr lang="fr-FR" sz="1100" b="1">
                <a:highlight>
                  <a:srgbClr val="FFFFFF"/>
                </a:highlight>
                <a:latin typeface="Calibri"/>
                <a:ea typeface="Calibri"/>
                <a:cs typeface="Calibri"/>
              </a:rPr>
              <a:t>H0</a:t>
            </a:r>
            <a:r>
              <a:rPr lang="fr-FR" sz="1100">
                <a:highlight>
                  <a:srgbClr val="FFFFFF"/>
                </a:highlight>
                <a:latin typeface="Calibri"/>
                <a:ea typeface="Calibri"/>
                <a:cs typeface="Calibri"/>
              </a:rPr>
              <a:t> : Le salaire moyen est identique quel que soit le niveau hiérarchique </a:t>
            </a:r>
            <a:r>
              <a:rPr lang="fr-FR" sz="1100" b="1">
                <a:highlight>
                  <a:srgbClr val="FFFFFF"/>
                </a:highlight>
                <a:latin typeface="Calibri"/>
                <a:ea typeface="Calibri"/>
                <a:cs typeface="Calibri"/>
              </a:rPr>
              <a:t>H1</a:t>
            </a:r>
            <a:r>
              <a:rPr lang="fr-FR" sz="1100">
                <a:highlight>
                  <a:srgbClr val="FFFFFF"/>
                </a:highlight>
                <a:latin typeface="Calibri"/>
                <a:ea typeface="Calibri"/>
                <a:cs typeface="Calibri"/>
              </a:rPr>
              <a:t> : Au moins un niveau hiérarchique a un salaire moyen différent</a:t>
            </a:r>
          </a:p>
          <a:p>
            <a:endParaRPr lang="fr-FR" sz="1100">
              <a:highlight>
                <a:srgbClr val="FFFFFF"/>
              </a:highlight>
              <a:latin typeface="Calibri"/>
              <a:ea typeface="Calibri"/>
              <a:cs typeface="Calibri"/>
            </a:endParaRPr>
          </a:p>
          <a:p>
            <a:r>
              <a:rPr lang="fr-FR" sz="1100">
                <a:highlight>
                  <a:srgbClr val="FFFFFF"/>
                </a:highlight>
                <a:latin typeface="Calibri"/>
                <a:ea typeface="Calibri"/>
                <a:cs typeface="Calibri"/>
              </a:rPr>
              <a:t>Lors de notre analyse R nous allons d'abord nous assurer que nous pouvons utiliser le test ANOVA :</a:t>
            </a:r>
            <a:endParaRPr lang="fr-FR"/>
          </a:p>
          <a:p>
            <a:pPr marL="285750" indent="-285750">
              <a:buFont typeface="Symbol"/>
              <a:buChar char="•"/>
            </a:pPr>
            <a:r>
              <a:rPr lang="fr-FR" sz="1100">
                <a:highlight>
                  <a:srgbClr val="FFFFFF"/>
                </a:highlight>
                <a:latin typeface="Calibri"/>
                <a:ea typeface="Calibri"/>
                <a:cs typeface="Calibri"/>
              </a:rPr>
              <a:t>Les mesures sont indépendantes ? </a:t>
            </a:r>
            <a:r>
              <a:rPr lang="fr-FR" sz="1100" b="1">
                <a:highlight>
                  <a:srgbClr val="FFFFFF"/>
                </a:highlight>
                <a:latin typeface="Calibri"/>
                <a:ea typeface="Calibri"/>
                <a:cs typeface="Calibri"/>
              </a:rPr>
              <a:t>OUI</a:t>
            </a:r>
            <a:r>
              <a:rPr lang="fr-FR" sz="1100">
                <a:highlight>
                  <a:srgbClr val="FFFFFF"/>
                </a:highlight>
                <a:latin typeface="Calibri"/>
                <a:ea typeface="Calibri"/>
                <a:cs typeface="Calibri"/>
              </a:rPr>
              <a:t>, chaque salarié n'appartient qu'à un seul niveau hiérarchique.</a:t>
            </a:r>
          </a:p>
          <a:p>
            <a:pPr marL="285750" indent="-285750">
              <a:buFont typeface="Symbol"/>
              <a:buChar char="•"/>
            </a:pPr>
            <a:r>
              <a:rPr lang="fr-FR" sz="1100">
                <a:highlight>
                  <a:srgbClr val="FFFFFF"/>
                </a:highlight>
                <a:latin typeface="Calibri"/>
                <a:ea typeface="Calibri"/>
                <a:cs typeface="Calibri"/>
              </a:rPr>
              <a:t>L'échantillon contient plus de 20 entrées ? </a:t>
            </a:r>
            <a:r>
              <a:rPr lang="fr-FR" sz="1100" b="1">
                <a:highlight>
                  <a:srgbClr val="FFFFFF"/>
                </a:highlight>
                <a:latin typeface="Calibri"/>
                <a:ea typeface="Calibri"/>
                <a:cs typeface="Calibri"/>
              </a:rPr>
              <a:t>OUI</a:t>
            </a:r>
            <a:r>
              <a:rPr lang="fr-FR" sz="1100">
                <a:highlight>
                  <a:srgbClr val="FFFFFF"/>
                </a:highlight>
                <a:latin typeface="Calibri"/>
                <a:ea typeface="Calibri"/>
                <a:cs typeface="Calibri"/>
              </a:rPr>
              <a:t>, il contient 552 observations.</a:t>
            </a:r>
          </a:p>
          <a:p>
            <a:pPr>
              <a:buFont typeface="Symbol"/>
              <a:buChar char="•"/>
            </a:pPr>
            <a:r>
              <a:rPr lang="fr-FR" sz="1100">
                <a:highlight>
                  <a:srgbClr val="FFFFFF"/>
                </a:highlight>
                <a:latin typeface="Calibri"/>
                <a:ea typeface="Calibri"/>
                <a:cs typeface="Calibri"/>
              </a:rPr>
              <a:t>       Les variances sont égales ? Nous allons le confirmer avec R avec un test de </a:t>
            </a:r>
            <a:r>
              <a:rPr lang="fr-FR" sz="1100" err="1">
                <a:highlight>
                  <a:srgbClr val="FFFFFF"/>
                </a:highlight>
                <a:latin typeface="Calibri"/>
                <a:ea typeface="Calibri"/>
                <a:cs typeface="Calibri"/>
              </a:rPr>
              <a:t>Levene</a:t>
            </a:r>
            <a:r>
              <a:rPr lang="fr-FR" sz="1100">
                <a:highlight>
                  <a:srgbClr val="FFFFFF"/>
                </a:highlight>
                <a:latin typeface="Calibri"/>
                <a:ea typeface="Calibri"/>
                <a:cs typeface="Calibri"/>
              </a:rPr>
              <a:t>.</a:t>
            </a:r>
          </a:p>
          <a:p>
            <a:endParaRPr lang="fr-FR" sz="1100" b="1">
              <a:highlight>
                <a:srgbClr val="FFFFFF"/>
              </a:highlight>
              <a:latin typeface="Calibri"/>
              <a:ea typeface="Calibri"/>
              <a:cs typeface="Calibri"/>
            </a:endParaRPr>
          </a:p>
          <a:p>
            <a:r>
              <a:rPr lang="fr-FR" sz="1100" b="1">
                <a:highlight>
                  <a:srgbClr val="FFFFFF"/>
                </a:highlight>
                <a:latin typeface="Calibri"/>
                <a:ea typeface="Calibri"/>
                <a:cs typeface="Calibri"/>
              </a:rPr>
              <a:t>Test de </a:t>
            </a:r>
            <a:r>
              <a:rPr lang="fr-FR" sz="1100" b="1" err="1">
                <a:highlight>
                  <a:srgbClr val="FFFFFF"/>
                </a:highlight>
                <a:latin typeface="Calibri"/>
                <a:ea typeface="Calibri"/>
                <a:cs typeface="Calibri"/>
              </a:rPr>
              <a:t>Levene</a:t>
            </a:r>
            <a:endParaRPr lang="fr-FR" sz="1100" err="1">
              <a:highlight>
                <a:srgbClr val="FFFFFF"/>
              </a:highlight>
              <a:latin typeface="Calibri"/>
              <a:ea typeface="Calibri"/>
              <a:cs typeface="Calibri"/>
            </a:endParaRPr>
          </a:p>
          <a:p>
            <a:r>
              <a:rPr lang="fr-FR" sz="1100">
                <a:highlight>
                  <a:srgbClr val="FFFFFF"/>
                </a:highlight>
                <a:latin typeface="Calibri"/>
                <a:ea typeface="Calibri"/>
                <a:cs typeface="Calibri"/>
              </a:rPr>
              <a:t>H0 : Les variances sont égales</a:t>
            </a:r>
          </a:p>
          <a:p>
            <a:pPr marL="285750" indent="-285750" algn="l">
              <a:buFont typeface="Symbol"/>
              <a:buChar char="•"/>
            </a:pPr>
            <a:endParaRPr lang="fr-FR" sz="1100">
              <a:highlight>
                <a:srgbClr val="FFFFFF"/>
              </a:highlight>
              <a:latin typeface="Calibri"/>
              <a:ea typeface="Calibri"/>
              <a:cs typeface="Calibri"/>
            </a:endParaRPr>
          </a:p>
          <a:p>
            <a:endParaRPr lang="fr-FR"/>
          </a:p>
        </p:txBody>
      </p:sp>
      <p:pic>
        <p:nvPicPr>
          <p:cNvPr id="18" name="Image 17" descr="Une image contenant texte, capture d’écran, Police, ligne&#10;&#10;Le contenu généré par l’IA peut être incorrect.">
            <a:extLst>
              <a:ext uri="{FF2B5EF4-FFF2-40B4-BE49-F238E27FC236}">
                <a16:creationId xmlns:a16="http://schemas.microsoft.com/office/drawing/2014/main" id="{73235E1A-6E02-A381-17B5-1FA23EA27D59}"/>
              </a:ext>
            </a:extLst>
          </p:cNvPr>
          <p:cNvPicPr>
            <a:picLocks noChangeAspect="1"/>
          </p:cNvPicPr>
          <p:nvPr/>
        </p:nvPicPr>
        <p:blipFill>
          <a:blip r:embed="rId3"/>
          <a:stretch>
            <a:fillRect/>
          </a:stretch>
        </p:blipFill>
        <p:spPr>
          <a:xfrm>
            <a:off x="668791" y="3865789"/>
            <a:ext cx="3479347" cy="834118"/>
          </a:xfrm>
          <a:prstGeom prst="rect">
            <a:avLst/>
          </a:prstGeom>
        </p:spPr>
      </p:pic>
      <p:sp>
        <p:nvSpPr>
          <p:cNvPr id="19" name="ZoneTexte 18">
            <a:extLst>
              <a:ext uri="{FF2B5EF4-FFF2-40B4-BE49-F238E27FC236}">
                <a16:creationId xmlns:a16="http://schemas.microsoft.com/office/drawing/2014/main" id="{C4EB96B6-D6E3-5432-550F-40DB16C89A34}"/>
              </a:ext>
            </a:extLst>
          </p:cNvPr>
          <p:cNvSpPr txBox="1"/>
          <p:nvPr/>
        </p:nvSpPr>
        <p:spPr>
          <a:xfrm>
            <a:off x="666750" y="4898571"/>
            <a:ext cx="504144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highlight>
                  <a:srgbClr val="FFFFFF"/>
                </a:highlight>
                <a:latin typeface="Calibri"/>
                <a:ea typeface="Calibri"/>
                <a:cs typeface="Calibri"/>
              </a:rPr>
              <a:t>Le test de </a:t>
            </a:r>
            <a:r>
              <a:rPr lang="fr-FR" sz="1200" err="1">
                <a:highlight>
                  <a:srgbClr val="FFFFFF"/>
                </a:highlight>
                <a:latin typeface="Calibri"/>
                <a:ea typeface="Calibri"/>
                <a:cs typeface="Calibri"/>
              </a:rPr>
              <a:t>Levene</a:t>
            </a:r>
            <a:r>
              <a:rPr lang="fr-FR" sz="1200">
                <a:highlight>
                  <a:srgbClr val="FFFFFF"/>
                </a:highlight>
                <a:latin typeface="Calibri"/>
                <a:ea typeface="Calibri"/>
                <a:cs typeface="Calibri"/>
              </a:rPr>
              <a:t> met en évidence une différence de variances entre les groupes (p &lt; 0.05). L'hypothèse d'homogénéité des variances n'est pas retenue. Cependant, l'ANOVA reste robuste à cette violation lorsque les effectifs sont grands.</a:t>
            </a:r>
          </a:p>
        </p:txBody>
      </p:sp>
      <p:sp>
        <p:nvSpPr>
          <p:cNvPr id="20" name="ZoneTexte 19">
            <a:extLst>
              <a:ext uri="{FF2B5EF4-FFF2-40B4-BE49-F238E27FC236}">
                <a16:creationId xmlns:a16="http://schemas.microsoft.com/office/drawing/2014/main" id="{DF17332E-CAD4-8232-6D50-291FA04A69DD}"/>
              </a:ext>
            </a:extLst>
          </p:cNvPr>
          <p:cNvSpPr txBox="1"/>
          <p:nvPr/>
        </p:nvSpPr>
        <p:spPr>
          <a:xfrm>
            <a:off x="6402160" y="938892"/>
            <a:ext cx="289832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a:highlight>
                  <a:srgbClr val="FFFFFF"/>
                </a:highlight>
                <a:latin typeface="Calibri"/>
                <a:ea typeface="Calibri"/>
                <a:cs typeface="Calibri"/>
              </a:rPr>
              <a:t>Test ANOVA</a:t>
            </a:r>
          </a:p>
          <a:p>
            <a:endParaRPr lang="fr-FR" sz="1200" b="1">
              <a:highlight>
                <a:srgbClr val="FFFFFF"/>
              </a:highlight>
              <a:latin typeface="Calibri"/>
              <a:ea typeface="Calibri"/>
              <a:cs typeface="Calibri"/>
            </a:endParaRPr>
          </a:p>
          <a:p>
            <a:endParaRPr lang="fr-FR" sz="1200" b="1">
              <a:highlight>
                <a:srgbClr val="FFFFFF"/>
              </a:highlight>
              <a:latin typeface="Calibri"/>
              <a:ea typeface="Calibri"/>
              <a:cs typeface="Calibri"/>
            </a:endParaRPr>
          </a:p>
          <a:p>
            <a:endParaRPr lang="fr-FR" sz="1200" b="1">
              <a:highlight>
                <a:srgbClr val="FFFFFF"/>
              </a:highlight>
              <a:latin typeface="Calibri"/>
              <a:ea typeface="Calibri"/>
              <a:cs typeface="Calibri"/>
            </a:endParaRPr>
          </a:p>
        </p:txBody>
      </p:sp>
      <p:pic>
        <p:nvPicPr>
          <p:cNvPr id="21" name="Image 20" descr="Une image contenant texte, capture d’écran, Police, ligne&#10;&#10;Le contenu généré par l’IA peut être incorrect.">
            <a:extLst>
              <a:ext uri="{FF2B5EF4-FFF2-40B4-BE49-F238E27FC236}">
                <a16:creationId xmlns:a16="http://schemas.microsoft.com/office/drawing/2014/main" id="{468C53E1-E67C-32D0-F664-0117EBEA52F1}"/>
              </a:ext>
            </a:extLst>
          </p:cNvPr>
          <p:cNvPicPr>
            <a:picLocks noChangeAspect="1"/>
          </p:cNvPicPr>
          <p:nvPr/>
        </p:nvPicPr>
        <p:blipFill>
          <a:blip r:embed="rId4"/>
          <a:stretch>
            <a:fillRect/>
          </a:stretch>
        </p:blipFill>
        <p:spPr>
          <a:xfrm>
            <a:off x="6479041" y="1276349"/>
            <a:ext cx="2860222" cy="726623"/>
          </a:xfrm>
          <a:prstGeom prst="rect">
            <a:avLst/>
          </a:prstGeom>
        </p:spPr>
      </p:pic>
      <p:sp>
        <p:nvSpPr>
          <p:cNvPr id="22" name="ZoneTexte 21">
            <a:extLst>
              <a:ext uri="{FF2B5EF4-FFF2-40B4-BE49-F238E27FC236}">
                <a16:creationId xmlns:a16="http://schemas.microsoft.com/office/drawing/2014/main" id="{24E9E60C-89A4-B384-1E9C-4977498FDA9F}"/>
              </a:ext>
            </a:extLst>
          </p:cNvPr>
          <p:cNvSpPr txBox="1"/>
          <p:nvPr/>
        </p:nvSpPr>
        <p:spPr>
          <a:xfrm>
            <a:off x="6402160" y="1945820"/>
            <a:ext cx="552449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b="1">
                <a:highlight>
                  <a:srgbClr val="FFFFFF"/>
                </a:highlight>
                <a:latin typeface="Calibri"/>
                <a:ea typeface="Calibri"/>
                <a:cs typeface="Calibri"/>
              </a:rPr>
              <a:t>Interprétation </a:t>
            </a:r>
            <a:r>
              <a:rPr lang="fr-FR" sz="1200">
                <a:highlight>
                  <a:srgbClr val="FFFFFF"/>
                </a:highlight>
                <a:latin typeface="Calibri"/>
                <a:ea typeface="Calibri"/>
                <a:cs typeface="Calibri"/>
              </a:rPr>
              <a:t>:</a:t>
            </a:r>
          </a:p>
          <a:p>
            <a:r>
              <a:rPr lang="fr-FR" sz="1200">
                <a:highlight>
                  <a:srgbClr val="FFFFFF"/>
                </a:highlight>
                <a:latin typeface="Calibri"/>
                <a:ea typeface="Calibri"/>
                <a:cs typeface="Calibri"/>
              </a:rPr>
              <a:t>p-value &lt; 2e-16 &lt; α (0.05) → Rejet de H0</a:t>
            </a:r>
          </a:p>
          <a:p>
            <a:endParaRPr lang="fr-FR" sz="1200">
              <a:highlight>
                <a:srgbClr val="FFFFFF"/>
              </a:highlight>
              <a:latin typeface="Calibri"/>
              <a:ea typeface="Calibri"/>
              <a:cs typeface="Calibri"/>
            </a:endParaRPr>
          </a:p>
          <a:p>
            <a:r>
              <a:rPr lang="fr-FR" sz="1200">
                <a:highlight>
                  <a:srgbClr val="FFFFFF"/>
                </a:highlight>
                <a:latin typeface="Calibri"/>
                <a:ea typeface="Calibri"/>
                <a:cs typeface="Calibri"/>
              </a:rPr>
              <a:t>Le test ANOVA permet de rejeter l'hypothèse d'égalité des salaires moyens entre les niveaux hiérarchiques (p &lt; 0.001).</a:t>
            </a:r>
          </a:p>
          <a:p>
            <a:r>
              <a:rPr lang="fr-FR" sz="1200">
                <a:highlight>
                  <a:srgbClr val="FFFFFF"/>
                </a:highlight>
                <a:latin typeface="Calibri"/>
                <a:ea typeface="Calibri"/>
                <a:cs typeface="Calibri"/>
              </a:rPr>
              <a:t>Le niveau hiérarchique a un effet très significatif sur le salaire (F = 456.1, p &lt; 0.001).</a:t>
            </a:r>
          </a:p>
          <a:p>
            <a:pPr algn="l"/>
            <a:endParaRPr lang="fr-FR"/>
          </a:p>
        </p:txBody>
      </p:sp>
      <p:pic>
        <p:nvPicPr>
          <p:cNvPr id="24" name="Image 23" descr="Une image contenant capture d’écran, ligne, carré&#10;&#10;Le contenu généré par l’IA peut être incorrect.">
            <a:extLst>
              <a:ext uri="{FF2B5EF4-FFF2-40B4-BE49-F238E27FC236}">
                <a16:creationId xmlns:a16="http://schemas.microsoft.com/office/drawing/2014/main" id="{D46AD3B8-6364-2AE5-A91D-3DA173F54ED5}"/>
              </a:ext>
            </a:extLst>
          </p:cNvPr>
          <p:cNvPicPr>
            <a:picLocks noChangeAspect="1"/>
          </p:cNvPicPr>
          <p:nvPr/>
        </p:nvPicPr>
        <p:blipFill>
          <a:blip r:embed="rId5"/>
          <a:stretch>
            <a:fillRect/>
          </a:stretch>
        </p:blipFill>
        <p:spPr>
          <a:xfrm>
            <a:off x="7253968" y="3165021"/>
            <a:ext cx="3596367" cy="3079297"/>
          </a:xfrm>
          <a:prstGeom prst="rect">
            <a:avLst/>
          </a:prstGeom>
        </p:spPr>
      </p:pic>
      <p:cxnSp>
        <p:nvCxnSpPr>
          <p:cNvPr id="25" name="Connecteur droit avec flèche 24">
            <a:extLst>
              <a:ext uri="{FF2B5EF4-FFF2-40B4-BE49-F238E27FC236}">
                <a16:creationId xmlns:a16="http://schemas.microsoft.com/office/drawing/2014/main" id="{CDD21120-019B-30B5-5EE1-E97241008B92}"/>
              </a:ext>
            </a:extLst>
          </p:cNvPr>
          <p:cNvCxnSpPr/>
          <p:nvPr/>
        </p:nvCxnSpPr>
        <p:spPr>
          <a:xfrm>
            <a:off x="6184446" y="1347107"/>
            <a:ext cx="13606" cy="5041446"/>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26" name="ZoneTexte 25">
            <a:extLst>
              <a:ext uri="{FF2B5EF4-FFF2-40B4-BE49-F238E27FC236}">
                <a16:creationId xmlns:a16="http://schemas.microsoft.com/office/drawing/2014/main" id="{6AC34283-1261-3BDD-5B53-21A2D736FB29}"/>
              </a:ext>
            </a:extLst>
          </p:cNvPr>
          <p:cNvSpPr txBox="1"/>
          <p:nvPr/>
        </p:nvSpPr>
        <p:spPr>
          <a:xfrm>
            <a:off x="6266088" y="6177643"/>
            <a:ext cx="588508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latin typeface="Calibri"/>
              </a:rPr>
              <a:t>Le graphique confirme visuellement que le salaire augmente avec le niveau hiérarchique.</a:t>
            </a:r>
            <a:r>
              <a:rPr sz="1200">
                <a:latin typeface="Calibri"/>
                <a:ea typeface="Calibri"/>
                <a:cs typeface="Calibri"/>
              </a:rPr>
              <a:t> </a:t>
            </a:r>
            <a:endParaRPr lang="fr-FR"/>
          </a:p>
          <a:p>
            <a:pPr algn="ctr"/>
            <a:endParaRPr lang="fr-FR"/>
          </a:p>
        </p:txBody>
      </p:sp>
    </p:spTree>
    <p:extLst>
      <p:ext uri="{BB962C8B-B14F-4D97-AF65-F5344CB8AC3E}">
        <p14:creationId xmlns:p14="http://schemas.microsoft.com/office/powerpoint/2010/main" val="159810808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Thème Office</vt:lpstr>
      <vt:lpstr>PowerPoint Presentation</vt:lpstr>
      <vt:lpstr>Structure générale du dataset</vt:lpstr>
      <vt:lpstr>Analyse descriptive des données  1 Variable qualitative  </vt:lpstr>
      <vt:lpstr>Analyse descriptive des données  2 Variables qualitatives </vt:lpstr>
      <vt:lpstr>PowerPoint Presentation</vt:lpstr>
      <vt:lpstr>Tests statistiques  2 variables qualitatives : test du Chi2  </vt:lpstr>
      <vt:lpstr>Tests statistiques  2 variables une qualitative une quantitative: test de Student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2026-02-02T17:37:31Z</dcterms:created>
  <dcterms:modified xsi:type="dcterms:W3CDTF">2026-02-09T10:55:56Z</dcterms:modified>
</cp:coreProperties>
</file>